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sldSz cx="18288000" cy="10287000"/>
  <p:notesSz cx="6858000" cy="9144000"/>
  <p:embeddedFontLst>
    <p:embeddedFont>
      <p:font typeface="Barlow Condensed Bold" panose="020B0604020202020204" charset="0"/>
      <p:regular r:id="rId9"/>
    </p:embeddedFont>
    <p:embeddedFont>
      <p:font typeface="Canva Sans" panose="020B0604020202020204" charset="0"/>
      <p:regular r:id="rId10"/>
    </p:embeddedFont>
    <p:embeddedFont>
      <p:font typeface="Open Sans" panose="020B0606030504020204" pitchFamily="34" charset="0"/>
      <p:regular r:id="rId11"/>
    </p:embeddedFont>
    <p:embeddedFont>
      <p:font typeface="Open Sans Bold" panose="020B0604020202020204" charset="0"/>
      <p:regular r:id="rId12"/>
    </p:embeddedFont>
    <p:embeddedFont>
      <p:font typeface="Poppins" panose="00000500000000000000" pitchFamily="2" charset="0"/>
      <p:regular r:id="rId13"/>
    </p:embeddedFont>
    <p:embeddedFont>
      <p:font typeface="Poppins Bold" panose="00000800000000000000" charset="0"/>
      <p:regular r:id="rId14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 autoAdjust="0"/>
    <p:restoredTop sz="94622" autoAdjust="0"/>
  </p:normalViewPr>
  <p:slideViewPr>
    <p:cSldViewPr>
      <p:cViewPr varScale="1">
        <p:scale>
          <a:sx n="44" d="100"/>
          <a:sy n="44" d="100"/>
        </p:scale>
        <p:origin x="660" y="52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font" Target="fonts/font5.fntdata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font" Target="fonts/font4.fntdata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font" Target="fonts/font3.fntdata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font" Target="fonts/font2.fntdata"/><Relationship Id="rId4" Type="http://schemas.openxmlformats.org/officeDocument/2006/relationships/slide" Target="slides/slide3.xml"/><Relationship Id="rId9" Type="http://schemas.openxmlformats.org/officeDocument/2006/relationships/font" Target="fonts/font1.fntdata"/><Relationship Id="rId14" Type="http://schemas.openxmlformats.org/officeDocument/2006/relationships/font" Target="fonts/font6.fntdata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6/12/2026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6/12/2026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6/12/2026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6/12/2026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6/12/2026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6/12/2026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6/12/2026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6/12/2026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6/12/2026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6/12/2026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6/12/2026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6/12/2026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image" Target="../media/image2.sv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svg"/><Relationship Id="rId2" Type="http://schemas.openxmlformats.org/officeDocument/2006/relationships/image" Target="../media/image2.sv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6.svg"/><Relationship Id="rId4" Type="http://schemas.openxmlformats.org/officeDocument/2006/relationships/image" Target="../media/image5.sv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svg"/><Relationship Id="rId2" Type="http://schemas.openxmlformats.org/officeDocument/2006/relationships/image" Target="../media/image2.sv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8.svg"/><Relationship Id="rId4" Type="http://schemas.openxmlformats.org/officeDocument/2006/relationships/image" Target="../media/image7.svg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14.svg"/><Relationship Id="rId3" Type="http://schemas.openxmlformats.org/officeDocument/2006/relationships/image" Target="../media/image9.svg"/><Relationship Id="rId7" Type="http://schemas.openxmlformats.org/officeDocument/2006/relationships/image" Target="../media/image13.svg"/><Relationship Id="rId2" Type="http://schemas.openxmlformats.org/officeDocument/2006/relationships/image" Target="../media/image2.sv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2.svg"/><Relationship Id="rId5" Type="http://schemas.openxmlformats.org/officeDocument/2006/relationships/image" Target="../media/image11.svg"/><Relationship Id="rId4" Type="http://schemas.openxmlformats.org/officeDocument/2006/relationships/image" Target="../media/image10.sv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svg"/><Relationship Id="rId2" Type="http://schemas.openxmlformats.org/officeDocument/2006/relationships/image" Target="../media/image2.sv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6.sv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svg"/><Relationship Id="rId7" Type="http://schemas.openxmlformats.org/officeDocument/2006/relationships/image" Target="../media/image21.svg"/><Relationship Id="rId2" Type="http://schemas.openxmlformats.org/officeDocument/2006/relationships/image" Target="../media/image2.sv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20.svg"/><Relationship Id="rId5" Type="http://schemas.openxmlformats.org/officeDocument/2006/relationships/image" Target="../media/image19.svg"/><Relationship Id="rId4" Type="http://schemas.openxmlformats.org/officeDocument/2006/relationships/image" Target="../media/image18.sv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1039108" y="2301072"/>
            <a:ext cx="6125615" cy="6125615"/>
          </a:xfrm>
          <a:custGeom>
            <a:avLst/>
            <a:gdLst/>
            <a:ahLst/>
            <a:cxnLst/>
            <a:rect l="l" t="t" r="r" b="b"/>
            <a:pathLst>
              <a:path w="6125615" h="6125615">
                <a:moveTo>
                  <a:pt x="0" y="0"/>
                </a:moveTo>
                <a:lnTo>
                  <a:pt x="6125615" y="0"/>
                </a:lnTo>
                <a:lnTo>
                  <a:pt x="6125615" y="6125615"/>
                </a:lnTo>
                <a:lnTo>
                  <a:pt x="0" y="6125615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</p:sp>
      <p:grpSp>
        <p:nvGrpSpPr>
          <p:cNvPr id="3" name="Group 3"/>
          <p:cNvGrpSpPr/>
          <p:nvPr/>
        </p:nvGrpSpPr>
        <p:grpSpPr>
          <a:xfrm>
            <a:off x="17749838" y="7527480"/>
            <a:ext cx="47625" cy="1740345"/>
            <a:chOff x="0" y="0"/>
            <a:chExt cx="12543" cy="458362"/>
          </a:xfrm>
        </p:grpSpPr>
        <p:sp>
          <p:nvSpPr>
            <p:cNvPr id="4" name="Freeform 4"/>
            <p:cNvSpPr/>
            <p:nvPr/>
          </p:nvSpPr>
          <p:spPr>
            <a:xfrm>
              <a:off x="0" y="0"/>
              <a:ext cx="12543" cy="458362"/>
            </a:xfrm>
            <a:custGeom>
              <a:avLst/>
              <a:gdLst/>
              <a:ahLst/>
              <a:cxnLst/>
              <a:rect l="l" t="t" r="r" b="b"/>
              <a:pathLst>
                <a:path w="12543" h="458362">
                  <a:moveTo>
                    <a:pt x="0" y="0"/>
                  </a:moveTo>
                  <a:lnTo>
                    <a:pt x="12543" y="0"/>
                  </a:lnTo>
                  <a:lnTo>
                    <a:pt x="12543" y="458362"/>
                  </a:lnTo>
                  <a:lnTo>
                    <a:pt x="0" y="458362"/>
                  </a:lnTo>
                  <a:close/>
                </a:path>
              </a:pathLst>
            </a:custGeom>
            <a:gradFill rotWithShape="1">
              <a:gsLst>
                <a:gs pos="0">
                  <a:srgbClr val="45D0FC">
                    <a:alpha val="100000"/>
                  </a:srgbClr>
                </a:gs>
                <a:gs pos="100000">
                  <a:srgbClr val="085DA0">
                    <a:alpha val="100000"/>
                  </a:srgbClr>
                </a:gs>
              </a:gsLst>
              <a:lin ang="2700000"/>
            </a:gradFill>
          </p:spPr>
        </p:sp>
        <p:sp>
          <p:nvSpPr>
            <p:cNvPr id="5" name="TextBox 5"/>
            <p:cNvSpPr txBox="1"/>
            <p:nvPr/>
          </p:nvSpPr>
          <p:spPr>
            <a:xfrm>
              <a:off x="0" y="-38100"/>
              <a:ext cx="12543" cy="496462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sp>
        <p:nvSpPr>
          <p:cNvPr id="6" name="Freeform 6"/>
          <p:cNvSpPr/>
          <p:nvPr/>
        </p:nvSpPr>
        <p:spPr>
          <a:xfrm>
            <a:off x="473588" y="377888"/>
            <a:ext cx="369285" cy="363243"/>
          </a:xfrm>
          <a:custGeom>
            <a:avLst/>
            <a:gdLst/>
            <a:ahLst/>
            <a:cxnLst/>
            <a:rect l="l" t="t" r="r" b="b"/>
            <a:pathLst>
              <a:path w="369285" h="363243">
                <a:moveTo>
                  <a:pt x="0" y="0"/>
                </a:moveTo>
                <a:lnTo>
                  <a:pt x="369285" y="0"/>
                </a:lnTo>
                <a:lnTo>
                  <a:pt x="369285" y="363242"/>
                </a:lnTo>
                <a:lnTo>
                  <a:pt x="0" y="363242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grpSp>
        <p:nvGrpSpPr>
          <p:cNvPr id="7" name="Group 7"/>
          <p:cNvGrpSpPr/>
          <p:nvPr/>
        </p:nvGrpSpPr>
        <p:grpSpPr>
          <a:xfrm>
            <a:off x="17259300" y="0"/>
            <a:ext cx="1028700" cy="1028700"/>
            <a:chOff x="0" y="0"/>
            <a:chExt cx="270933" cy="270933"/>
          </a:xfrm>
        </p:grpSpPr>
        <p:sp>
          <p:nvSpPr>
            <p:cNvPr id="8" name="Freeform 8"/>
            <p:cNvSpPr/>
            <p:nvPr/>
          </p:nvSpPr>
          <p:spPr>
            <a:xfrm>
              <a:off x="0" y="0"/>
              <a:ext cx="270933" cy="270933"/>
            </a:xfrm>
            <a:custGeom>
              <a:avLst/>
              <a:gdLst/>
              <a:ahLst/>
              <a:cxnLst/>
              <a:rect l="l" t="t" r="r" b="b"/>
              <a:pathLst>
                <a:path w="270933" h="270933">
                  <a:moveTo>
                    <a:pt x="0" y="0"/>
                  </a:moveTo>
                  <a:lnTo>
                    <a:pt x="270933" y="0"/>
                  </a:lnTo>
                  <a:lnTo>
                    <a:pt x="270933" y="270933"/>
                  </a:lnTo>
                  <a:lnTo>
                    <a:pt x="0" y="270933"/>
                  </a:lnTo>
                  <a:close/>
                </a:path>
              </a:pathLst>
            </a:custGeom>
            <a:gradFill rotWithShape="1">
              <a:gsLst>
                <a:gs pos="0">
                  <a:srgbClr val="45D0FC">
                    <a:alpha val="100000"/>
                  </a:srgbClr>
                </a:gs>
                <a:gs pos="100000">
                  <a:srgbClr val="085DA0">
                    <a:alpha val="100000"/>
                  </a:srgbClr>
                </a:gs>
              </a:gsLst>
              <a:lin ang="2700000"/>
            </a:gradFill>
          </p:spPr>
        </p:sp>
        <p:sp>
          <p:nvSpPr>
            <p:cNvPr id="9" name="TextBox 9"/>
            <p:cNvSpPr txBox="1"/>
            <p:nvPr/>
          </p:nvSpPr>
          <p:spPr>
            <a:xfrm>
              <a:off x="0" y="-38100"/>
              <a:ext cx="270933" cy="30903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10" name="TextBox 10"/>
          <p:cNvSpPr txBox="1"/>
          <p:nvPr/>
        </p:nvSpPr>
        <p:spPr>
          <a:xfrm>
            <a:off x="1039108" y="441474"/>
            <a:ext cx="2144762" cy="19816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680"/>
              </a:lnSpc>
              <a:spcBef>
                <a:spcPct val="0"/>
              </a:spcBef>
            </a:pPr>
            <a:r>
              <a:rPr lang="en-US" sz="1200">
                <a:solidFill>
                  <a:srgbClr val="1F2020"/>
                </a:solidFill>
                <a:latin typeface="Open Sans"/>
                <a:ea typeface="Open Sans"/>
                <a:cs typeface="Open Sans"/>
                <a:sym typeface="Open Sans"/>
              </a:rPr>
              <a:t>Institut Teknologi Garut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15940842" y="441474"/>
            <a:ext cx="978460" cy="19797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680"/>
              </a:lnSpc>
              <a:spcBef>
                <a:spcPct val="0"/>
              </a:spcBef>
            </a:pPr>
            <a:r>
              <a:rPr lang="en-US" sz="1200">
                <a:solidFill>
                  <a:srgbClr val="1F2020"/>
                </a:solidFill>
                <a:latin typeface="Open Sans"/>
                <a:ea typeface="Open Sans"/>
                <a:cs typeface="Open Sans"/>
                <a:sym typeface="Open Sans"/>
              </a:rPr>
              <a:t>Contact</a:t>
            </a:r>
          </a:p>
        </p:txBody>
      </p:sp>
      <p:sp>
        <p:nvSpPr>
          <p:cNvPr id="12" name="TextBox 12"/>
          <p:cNvSpPr txBox="1"/>
          <p:nvPr/>
        </p:nvSpPr>
        <p:spPr>
          <a:xfrm>
            <a:off x="14385046" y="441474"/>
            <a:ext cx="1060497" cy="19797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680"/>
              </a:lnSpc>
              <a:spcBef>
                <a:spcPct val="0"/>
              </a:spcBef>
            </a:pPr>
            <a:r>
              <a:rPr lang="en-US" sz="1200">
                <a:solidFill>
                  <a:srgbClr val="1F2020"/>
                </a:solidFill>
                <a:latin typeface="Open Sans"/>
                <a:ea typeface="Open Sans"/>
                <a:cs typeface="Open Sans"/>
                <a:sym typeface="Open Sans"/>
              </a:rPr>
              <a:t>About Us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13154289" y="441474"/>
            <a:ext cx="735456" cy="19797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680"/>
              </a:lnSpc>
              <a:spcBef>
                <a:spcPct val="0"/>
              </a:spcBef>
            </a:pPr>
            <a:r>
              <a:rPr lang="en-US" sz="1200">
                <a:solidFill>
                  <a:srgbClr val="1F2020"/>
                </a:solidFill>
                <a:latin typeface="Open Sans"/>
                <a:ea typeface="Open Sans"/>
                <a:cs typeface="Open Sans"/>
                <a:sym typeface="Open Sans"/>
              </a:rPr>
              <a:t>Service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11898530" y="441474"/>
            <a:ext cx="809760" cy="19797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680"/>
              </a:lnSpc>
              <a:spcBef>
                <a:spcPct val="0"/>
              </a:spcBef>
            </a:pPr>
            <a:r>
              <a:rPr lang="en-US" sz="1200">
                <a:solidFill>
                  <a:srgbClr val="1F2020"/>
                </a:solidFill>
                <a:latin typeface="Open Sans"/>
                <a:ea typeface="Open Sans"/>
                <a:cs typeface="Open Sans"/>
                <a:sym typeface="Open Sans"/>
              </a:rPr>
              <a:t>Home</a:t>
            </a:r>
          </a:p>
        </p:txBody>
      </p:sp>
      <p:grpSp>
        <p:nvGrpSpPr>
          <p:cNvPr id="15" name="Group 15"/>
          <p:cNvGrpSpPr/>
          <p:nvPr/>
        </p:nvGrpSpPr>
        <p:grpSpPr>
          <a:xfrm>
            <a:off x="17259300" y="9258300"/>
            <a:ext cx="1028700" cy="1028700"/>
            <a:chOff x="0" y="0"/>
            <a:chExt cx="270933" cy="270933"/>
          </a:xfrm>
        </p:grpSpPr>
        <p:sp>
          <p:nvSpPr>
            <p:cNvPr id="16" name="Freeform 16"/>
            <p:cNvSpPr/>
            <p:nvPr/>
          </p:nvSpPr>
          <p:spPr>
            <a:xfrm>
              <a:off x="0" y="0"/>
              <a:ext cx="270933" cy="270933"/>
            </a:xfrm>
            <a:custGeom>
              <a:avLst/>
              <a:gdLst/>
              <a:ahLst/>
              <a:cxnLst/>
              <a:rect l="l" t="t" r="r" b="b"/>
              <a:pathLst>
                <a:path w="270933" h="270933">
                  <a:moveTo>
                    <a:pt x="0" y="0"/>
                  </a:moveTo>
                  <a:lnTo>
                    <a:pt x="270933" y="0"/>
                  </a:lnTo>
                  <a:lnTo>
                    <a:pt x="270933" y="270933"/>
                  </a:lnTo>
                  <a:lnTo>
                    <a:pt x="0" y="270933"/>
                  </a:lnTo>
                  <a:close/>
                </a:path>
              </a:pathLst>
            </a:custGeom>
            <a:gradFill rotWithShape="1">
              <a:gsLst>
                <a:gs pos="0">
                  <a:srgbClr val="45D0FC">
                    <a:alpha val="100000"/>
                  </a:srgbClr>
                </a:gs>
                <a:gs pos="100000">
                  <a:srgbClr val="085DA0">
                    <a:alpha val="100000"/>
                  </a:srgbClr>
                </a:gs>
              </a:gsLst>
              <a:lin ang="2700000"/>
            </a:gradFill>
          </p:spPr>
        </p:sp>
        <p:sp>
          <p:nvSpPr>
            <p:cNvPr id="17" name="TextBox 17"/>
            <p:cNvSpPr txBox="1"/>
            <p:nvPr/>
          </p:nvSpPr>
          <p:spPr>
            <a:xfrm>
              <a:off x="0" y="-38100"/>
              <a:ext cx="270933" cy="30903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18" name="TextBox 18"/>
          <p:cNvSpPr txBox="1"/>
          <p:nvPr/>
        </p:nvSpPr>
        <p:spPr>
          <a:xfrm>
            <a:off x="17499918" y="9638067"/>
            <a:ext cx="547464" cy="24059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960"/>
              </a:lnSpc>
              <a:spcBef>
                <a:spcPct val="0"/>
              </a:spcBef>
            </a:pPr>
            <a:r>
              <a:rPr lang="en-US" sz="1400" b="1">
                <a:solidFill>
                  <a:srgbClr val="FFFFFF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01</a:t>
            </a:r>
          </a:p>
        </p:txBody>
      </p:sp>
      <p:sp>
        <p:nvSpPr>
          <p:cNvPr id="19" name="TextBox 19"/>
          <p:cNvSpPr txBox="1"/>
          <p:nvPr/>
        </p:nvSpPr>
        <p:spPr>
          <a:xfrm>
            <a:off x="7402818" y="3127214"/>
            <a:ext cx="10610945" cy="473050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3792"/>
              </a:lnSpc>
            </a:pPr>
            <a:r>
              <a:rPr lang="en-US" sz="13792" b="1">
                <a:solidFill>
                  <a:srgbClr val="02CDFF"/>
                </a:solidFill>
                <a:latin typeface="Barlow Condensed Bold"/>
                <a:ea typeface="Barlow Condensed Bold"/>
                <a:cs typeface="Barlow Condensed Bold"/>
                <a:sym typeface="Barlow Condensed Bold"/>
              </a:rPr>
              <a:t>TUGAS BESAR </a:t>
            </a:r>
          </a:p>
          <a:p>
            <a:pPr algn="l">
              <a:lnSpc>
                <a:spcPts val="11534"/>
              </a:lnSpc>
            </a:pPr>
            <a:r>
              <a:rPr lang="en-US" sz="11534" b="1">
                <a:solidFill>
                  <a:srgbClr val="000000"/>
                </a:solidFill>
                <a:latin typeface="Barlow Condensed Bold"/>
                <a:ea typeface="Barlow Condensed Bold"/>
                <a:cs typeface="Barlow Condensed Bold"/>
                <a:sym typeface="Barlow Condensed Bold"/>
              </a:rPr>
              <a:t>PRAK. KECERDASAN BUATAN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17749838" y="7527480"/>
            <a:ext cx="47625" cy="1740345"/>
            <a:chOff x="0" y="0"/>
            <a:chExt cx="12543" cy="458362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12543" cy="458362"/>
            </a:xfrm>
            <a:custGeom>
              <a:avLst/>
              <a:gdLst/>
              <a:ahLst/>
              <a:cxnLst/>
              <a:rect l="l" t="t" r="r" b="b"/>
              <a:pathLst>
                <a:path w="12543" h="458362">
                  <a:moveTo>
                    <a:pt x="0" y="0"/>
                  </a:moveTo>
                  <a:lnTo>
                    <a:pt x="12543" y="0"/>
                  </a:lnTo>
                  <a:lnTo>
                    <a:pt x="12543" y="458362"/>
                  </a:lnTo>
                  <a:lnTo>
                    <a:pt x="0" y="458362"/>
                  </a:lnTo>
                  <a:close/>
                </a:path>
              </a:pathLst>
            </a:custGeom>
            <a:gradFill rotWithShape="1">
              <a:gsLst>
                <a:gs pos="0">
                  <a:srgbClr val="45D0FC">
                    <a:alpha val="100000"/>
                  </a:srgbClr>
                </a:gs>
                <a:gs pos="100000">
                  <a:srgbClr val="085DA0">
                    <a:alpha val="100000"/>
                  </a:srgbClr>
                </a:gs>
              </a:gsLst>
              <a:lin ang="2700000"/>
            </a:gradFill>
          </p:spPr>
        </p:sp>
        <p:sp>
          <p:nvSpPr>
            <p:cNvPr id="4" name="TextBox 4"/>
            <p:cNvSpPr txBox="1"/>
            <p:nvPr/>
          </p:nvSpPr>
          <p:spPr>
            <a:xfrm>
              <a:off x="0" y="-38100"/>
              <a:ext cx="12543" cy="496462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sp>
        <p:nvSpPr>
          <p:cNvPr id="5" name="Freeform 5"/>
          <p:cNvSpPr/>
          <p:nvPr/>
        </p:nvSpPr>
        <p:spPr>
          <a:xfrm>
            <a:off x="473588" y="377888"/>
            <a:ext cx="369285" cy="363243"/>
          </a:xfrm>
          <a:custGeom>
            <a:avLst/>
            <a:gdLst/>
            <a:ahLst/>
            <a:cxnLst/>
            <a:rect l="l" t="t" r="r" b="b"/>
            <a:pathLst>
              <a:path w="369285" h="363243">
                <a:moveTo>
                  <a:pt x="0" y="0"/>
                </a:moveTo>
                <a:lnTo>
                  <a:pt x="369285" y="0"/>
                </a:lnTo>
                <a:lnTo>
                  <a:pt x="369285" y="363242"/>
                </a:lnTo>
                <a:lnTo>
                  <a:pt x="0" y="363242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</p:sp>
      <p:grpSp>
        <p:nvGrpSpPr>
          <p:cNvPr id="6" name="Group 6"/>
          <p:cNvGrpSpPr/>
          <p:nvPr/>
        </p:nvGrpSpPr>
        <p:grpSpPr>
          <a:xfrm>
            <a:off x="17259300" y="0"/>
            <a:ext cx="1028700" cy="1028700"/>
            <a:chOff x="0" y="0"/>
            <a:chExt cx="270933" cy="270933"/>
          </a:xfrm>
        </p:grpSpPr>
        <p:sp>
          <p:nvSpPr>
            <p:cNvPr id="7" name="Freeform 7"/>
            <p:cNvSpPr/>
            <p:nvPr/>
          </p:nvSpPr>
          <p:spPr>
            <a:xfrm>
              <a:off x="0" y="0"/>
              <a:ext cx="270933" cy="270933"/>
            </a:xfrm>
            <a:custGeom>
              <a:avLst/>
              <a:gdLst/>
              <a:ahLst/>
              <a:cxnLst/>
              <a:rect l="l" t="t" r="r" b="b"/>
              <a:pathLst>
                <a:path w="270933" h="270933">
                  <a:moveTo>
                    <a:pt x="0" y="0"/>
                  </a:moveTo>
                  <a:lnTo>
                    <a:pt x="270933" y="0"/>
                  </a:lnTo>
                  <a:lnTo>
                    <a:pt x="270933" y="270933"/>
                  </a:lnTo>
                  <a:lnTo>
                    <a:pt x="0" y="270933"/>
                  </a:lnTo>
                  <a:close/>
                </a:path>
              </a:pathLst>
            </a:custGeom>
            <a:gradFill rotWithShape="1">
              <a:gsLst>
                <a:gs pos="0">
                  <a:srgbClr val="45D0FC">
                    <a:alpha val="100000"/>
                  </a:srgbClr>
                </a:gs>
                <a:gs pos="100000">
                  <a:srgbClr val="085DA0">
                    <a:alpha val="100000"/>
                  </a:srgbClr>
                </a:gs>
              </a:gsLst>
              <a:lin ang="2700000"/>
            </a:gradFill>
          </p:spPr>
        </p:sp>
        <p:sp>
          <p:nvSpPr>
            <p:cNvPr id="8" name="TextBox 8"/>
            <p:cNvSpPr txBox="1"/>
            <p:nvPr/>
          </p:nvSpPr>
          <p:spPr>
            <a:xfrm>
              <a:off x="0" y="-38100"/>
              <a:ext cx="270933" cy="30903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grpSp>
        <p:nvGrpSpPr>
          <p:cNvPr id="9" name="Group 9"/>
          <p:cNvGrpSpPr/>
          <p:nvPr/>
        </p:nvGrpSpPr>
        <p:grpSpPr>
          <a:xfrm>
            <a:off x="1039108" y="2533650"/>
            <a:ext cx="8707157" cy="4466953"/>
            <a:chOff x="0" y="0"/>
            <a:chExt cx="2293243" cy="1176481"/>
          </a:xfrm>
          <a:effectLst/>
        </p:grpSpPr>
        <p:sp>
          <p:nvSpPr>
            <p:cNvPr id="10" name="Freeform 10"/>
            <p:cNvSpPr/>
            <p:nvPr/>
          </p:nvSpPr>
          <p:spPr>
            <a:xfrm>
              <a:off x="0" y="0"/>
              <a:ext cx="2293243" cy="1176481"/>
            </a:xfrm>
            <a:custGeom>
              <a:avLst/>
              <a:gdLst/>
              <a:ahLst/>
              <a:cxnLst/>
              <a:rect l="l" t="t" r="r" b="b"/>
              <a:pathLst>
                <a:path w="2293243" h="1176481">
                  <a:moveTo>
                    <a:pt x="45346" y="0"/>
                  </a:moveTo>
                  <a:lnTo>
                    <a:pt x="2247897" y="0"/>
                  </a:lnTo>
                  <a:cubicBezTo>
                    <a:pt x="2259923" y="0"/>
                    <a:pt x="2271457" y="4778"/>
                    <a:pt x="2279961" y="13282"/>
                  </a:cubicBezTo>
                  <a:cubicBezTo>
                    <a:pt x="2288465" y="21786"/>
                    <a:pt x="2293243" y="33320"/>
                    <a:pt x="2293243" y="45346"/>
                  </a:cubicBezTo>
                  <a:lnTo>
                    <a:pt x="2293243" y="1131135"/>
                  </a:lnTo>
                  <a:cubicBezTo>
                    <a:pt x="2293243" y="1143162"/>
                    <a:pt x="2288465" y="1154696"/>
                    <a:pt x="2279961" y="1163200"/>
                  </a:cubicBezTo>
                  <a:cubicBezTo>
                    <a:pt x="2271457" y="1171704"/>
                    <a:pt x="2259923" y="1176481"/>
                    <a:pt x="2247897" y="1176481"/>
                  </a:cubicBezTo>
                  <a:lnTo>
                    <a:pt x="45346" y="1176481"/>
                  </a:lnTo>
                  <a:cubicBezTo>
                    <a:pt x="33320" y="1176481"/>
                    <a:pt x="21786" y="1171704"/>
                    <a:pt x="13282" y="1163200"/>
                  </a:cubicBezTo>
                  <a:cubicBezTo>
                    <a:pt x="4778" y="1154696"/>
                    <a:pt x="0" y="1143162"/>
                    <a:pt x="0" y="1131135"/>
                  </a:cubicBezTo>
                  <a:lnTo>
                    <a:pt x="0" y="45346"/>
                  </a:lnTo>
                  <a:cubicBezTo>
                    <a:pt x="0" y="33320"/>
                    <a:pt x="4778" y="21786"/>
                    <a:pt x="13282" y="13282"/>
                  </a:cubicBezTo>
                  <a:cubicBezTo>
                    <a:pt x="21786" y="4778"/>
                    <a:pt x="33320" y="0"/>
                    <a:pt x="45346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ffectLst>
              <a:glow rad="101600">
                <a:schemeClr val="tx1">
                  <a:alpha val="60000"/>
                </a:schemeClr>
              </a:glow>
              <a:outerShdw blurRad="44450" dist="27940" dir="5400000" algn="ctr">
                <a:srgbClr val="000000">
                  <a:alpha val="32000"/>
                </a:srgbClr>
              </a:outerShdw>
            </a:effectLst>
          </p:spPr>
        </p:sp>
        <p:sp>
          <p:nvSpPr>
            <p:cNvPr id="11" name="TextBox 11"/>
            <p:cNvSpPr txBox="1"/>
            <p:nvPr/>
          </p:nvSpPr>
          <p:spPr>
            <a:xfrm>
              <a:off x="0" y="-38100"/>
              <a:ext cx="2293243" cy="1214581"/>
            </a:xfrm>
            <a:prstGeom prst="rect">
              <a:avLst/>
            </a:prstGeom>
            <a:ln>
              <a:noFill/>
            </a:ln>
            <a:effectLst>
              <a:outerShdw blurRad="44450" dist="27940" dir="5400000" algn="ctr">
                <a:srgbClr val="000000">
                  <a:alpha val="32000"/>
                </a:srgbClr>
              </a:outerShdw>
            </a:effectLst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grpSp>
        <p:nvGrpSpPr>
          <p:cNvPr id="12" name="Group 12"/>
          <p:cNvGrpSpPr/>
          <p:nvPr/>
        </p:nvGrpSpPr>
        <p:grpSpPr>
          <a:xfrm>
            <a:off x="1039108" y="7179903"/>
            <a:ext cx="8707157" cy="2592747"/>
            <a:chOff x="0" y="0"/>
            <a:chExt cx="2293243" cy="682863"/>
          </a:xfrm>
          <a:effectLst>
            <a:glow rad="101600">
              <a:schemeClr val="tx1">
                <a:alpha val="60000"/>
              </a:schemeClr>
            </a:glow>
          </a:effectLst>
        </p:grpSpPr>
        <p:sp>
          <p:nvSpPr>
            <p:cNvPr id="13" name="Freeform 13"/>
            <p:cNvSpPr/>
            <p:nvPr/>
          </p:nvSpPr>
          <p:spPr>
            <a:xfrm>
              <a:off x="0" y="0"/>
              <a:ext cx="2293243" cy="682863"/>
            </a:xfrm>
            <a:custGeom>
              <a:avLst/>
              <a:gdLst/>
              <a:ahLst/>
              <a:cxnLst/>
              <a:rect l="l" t="t" r="r" b="b"/>
              <a:pathLst>
                <a:path w="2293243" h="682863">
                  <a:moveTo>
                    <a:pt x="45346" y="0"/>
                  </a:moveTo>
                  <a:lnTo>
                    <a:pt x="2247897" y="0"/>
                  </a:lnTo>
                  <a:cubicBezTo>
                    <a:pt x="2259923" y="0"/>
                    <a:pt x="2271457" y="4778"/>
                    <a:pt x="2279961" y="13282"/>
                  </a:cubicBezTo>
                  <a:cubicBezTo>
                    <a:pt x="2288465" y="21786"/>
                    <a:pt x="2293243" y="33320"/>
                    <a:pt x="2293243" y="45346"/>
                  </a:cubicBezTo>
                  <a:lnTo>
                    <a:pt x="2293243" y="637517"/>
                  </a:lnTo>
                  <a:cubicBezTo>
                    <a:pt x="2293243" y="649544"/>
                    <a:pt x="2288465" y="661078"/>
                    <a:pt x="2279961" y="669582"/>
                  </a:cubicBezTo>
                  <a:cubicBezTo>
                    <a:pt x="2271457" y="678086"/>
                    <a:pt x="2259923" y="682863"/>
                    <a:pt x="2247897" y="682863"/>
                  </a:cubicBezTo>
                  <a:lnTo>
                    <a:pt x="45346" y="682863"/>
                  </a:lnTo>
                  <a:cubicBezTo>
                    <a:pt x="33320" y="682863"/>
                    <a:pt x="21786" y="678086"/>
                    <a:pt x="13282" y="669582"/>
                  </a:cubicBezTo>
                  <a:cubicBezTo>
                    <a:pt x="4778" y="661078"/>
                    <a:pt x="0" y="649544"/>
                    <a:pt x="0" y="637517"/>
                  </a:cubicBezTo>
                  <a:lnTo>
                    <a:pt x="0" y="45346"/>
                  </a:lnTo>
                  <a:cubicBezTo>
                    <a:pt x="0" y="33320"/>
                    <a:pt x="4778" y="21786"/>
                    <a:pt x="13282" y="13282"/>
                  </a:cubicBezTo>
                  <a:cubicBezTo>
                    <a:pt x="21786" y="4778"/>
                    <a:pt x="33320" y="0"/>
                    <a:pt x="45346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ffectLst>
              <a:outerShdw blurRad="44450" dist="27940" dir="5400000" algn="ctr">
                <a:srgbClr val="000000">
                  <a:alpha val="32000"/>
                </a:srgbClr>
              </a:outerShdw>
            </a:effectLst>
          </p:spPr>
        </p:sp>
        <p:sp>
          <p:nvSpPr>
            <p:cNvPr id="14" name="TextBox 14"/>
            <p:cNvSpPr txBox="1"/>
            <p:nvPr/>
          </p:nvSpPr>
          <p:spPr>
            <a:xfrm>
              <a:off x="0" y="-38100"/>
              <a:ext cx="2293243" cy="720963"/>
            </a:xfrm>
            <a:prstGeom prst="rect">
              <a:avLst/>
            </a:prstGeom>
            <a:ln>
              <a:noFill/>
            </a:ln>
            <a:effectLst>
              <a:outerShdw blurRad="44450" dist="27940" dir="5400000" algn="ctr">
                <a:srgbClr val="000000">
                  <a:alpha val="32000"/>
                </a:srgbClr>
              </a:outerShdw>
            </a:effectLst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15" name="Freeform 15"/>
          <p:cNvSpPr/>
          <p:nvPr/>
        </p:nvSpPr>
        <p:spPr>
          <a:xfrm>
            <a:off x="10907515" y="1403839"/>
            <a:ext cx="6197211" cy="8474819"/>
          </a:xfrm>
          <a:custGeom>
            <a:avLst/>
            <a:gdLst/>
            <a:ahLst/>
            <a:cxnLst/>
            <a:rect l="l" t="t" r="r" b="b"/>
            <a:pathLst>
              <a:path w="6197211" h="8474819">
                <a:moveTo>
                  <a:pt x="0" y="0"/>
                </a:moveTo>
                <a:lnTo>
                  <a:pt x="6197211" y="0"/>
                </a:lnTo>
                <a:lnTo>
                  <a:pt x="6197211" y="8474819"/>
                </a:lnTo>
                <a:lnTo>
                  <a:pt x="0" y="8474819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</p:sp>
      <p:sp>
        <p:nvSpPr>
          <p:cNvPr id="16" name="TextBox 16"/>
          <p:cNvSpPr txBox="1"/>
          <p:nvPr/>
        </p:nvSpPr>
        <p:spPr>
          <a:xfrm>
            <a:off x="1039108" y="441474"/>
            <a:ext cx="2507359" cy="19816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680"/>
              </a:lnSpc>
              <a:spcBef>
                <a:spcPct val="0"/>
              </a:spcBef>
            </a:pPr>
            <a:r>
              <a:rPr lang="en-US" sz="1200">
                <a:solidFill>
                  <a:srgbClr val="1F2020"/>
                </a:solidFill>
                <a:latin typeface="Open Sans"/>
                <a:ea typeface="Open Sans"/>
                <a:cs typeface="Open Sans"/>
                <a:sym typeface="Open Sans"/>
              </a:rPr>
              <a:t>INSTITUT TEKNOLOGI GARUT</a:t>
            </a:r>
          </a:p>
        </p:txBody>
      </p:sp>
      <p:sp>
        <p:nvSpPr>
          <p:cNvPr id="17" name="TextBox 17"/>
          <p:cNvSpPr txBox="1"/>
          <p:nvPr/>
        </p:nvSpPr>
        <p:spPr>
          <a:xfrm>
            <a:off x="15940842" y="441474"/>
            <a:ext cx="978460" cy="19797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680"/>
              </a:lnSpc>
              <a:spcBef>
                <a:spcPct val="0"/>
              </a:spcBef>
            </a:pPr>
            <a:r>
              <a:rPr lang="en-US" sz="1200">
                <a:solidFill>
                  <a:srgbClr val="1F2020"/>
                </a:solidFill>
                <a:latin typeface="Open Sans"/>
                <a:ea typeface="Open Sans"/>
                <a:cs typeface="Open Sans"/>
                <a:sym typeface="Open Sans"/>
              </a:rPr>
              <a:t>Contact</a:t>
            </a:r>
          </a:p>
        </p:txBody>
      </p:sp>
      <p:sp>
        <p:nvSpPr>
          <p:cNvPr id="18" name="TextBox 18"/>
          <p:cNvSpPr txBox="1"/>
          <p:nvPr/>
        </p:nvSpPr>
        <p:spPr>
          <a:xfrm>
            <a:off x="14385046" y="441474"/>
            <a:ext cx="1060497" cy="19797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680"/>
              </a:lnSpc>
              <a:spcBef>
                <a:spcPct val="0"/>
              </a:spcBef>
            </a:pPr>
            <a:r>
              <a:rPr lang="en-US" sz="1200">
                <a:solidFill>
                  <a:srgbClr val="1F2020"/>
                </a:solidFill>
                <a:latin typeface="Open Sans"/>
                <a:ea typeface="Open Sans"/>
                <a:cs typeface="Open Sans"/>
                <a:sym typeface="Open Sans"/>
              </a:rPr>
              <a:t>About Us</a:t>
            </a:r>
          </a:p>
        </p:txBody>
      </p:sp>
      <p:sp>
        <p:nvSpPr>
          <p:cNvPr id="19" name="TextBox 19"/>
          <p:cNvSpPr txBox="1"/>
          <p:nvPr/>
        </p:nvSpPr>
        <p:spPr>
          <a:xfrm>
            <a:off x="13154289" y="441474"/>
            <a:ext cx="735456" cy="19797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680"/>
              </a:lnSpc>
              <a:spcBef>
                <a:spcPct val="0"/>
              </a:spcBef>
            </a:pPr>
            <a:r>
              <a:rPr lang="en-US" sz="1200">
                <a:solidFill>
                  <a:srgbClr val="1F2020"/>
                </a:solidFill>
                <a:latin typeface="Open Sans"/>
                <a:ea typeface="Open Sans"/>
                <a:cs typeface="Open Sans"/>
                <a:sym typeface="Open Sans"/>
              </a:rPr>
              <a:t>Service</a:t>
            </a:r>
          </a:p>
        </p:txBody>
      </p:sp>
      <p:sp>
        <p:nvSpPr>
          <p:cNvPr id="20" name="TextBox 20"/>
          <p:cNvSpPr txBox="1"/>
          <p:nvPr/>
        </p:nvSpPr>
        <p:spPr>
          <a:xfrm>
            <a:off x="11898530" y="441474"/>
            <a:ext cx="809760" cy="19797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680"/>
              </a:lnSpc>
              <a:spcBef>
                <a:spcPct val="0"/>
              </a:spcBef>
            </a:pPr>
            <a:r>
              <a:rPr lang="en-US" sz="1200">
                <a:solidFill>
                  <a:srgbClr val="1F2020"/>
                </a:solidFill>
                <a:latin typeface="Open Sans"/>
                <a:ea typeface="Open Sans"/>
                <a:cs typeface="Open Sans"/>
                <a:sym typeface="Open Sans"/>
              </a:rPr>
              <a:t>Home</a:t>
            </a:r>
          </a:p>
        </p:txBody>
      </p:sp>
      <p:sp>
        <p:nvSpPr>
          <p:cNvPr id="21" name="TextBox 21"/>
          <p:cNvSpPr txBox="1"/>
          <p:nvPr/>
        </p:nvSpPr>
        <p:spPr>
          <a:xfrm>
            <a:off x="17499918" y="9638067"/>
            <a:ext cx="547464" cy="24059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960"/>
              </a:lnSpc>
              <a:spcBef>
                <a:spcPct val="0"/>
              </a:spcBef>
            </a:pPr>
            <a:r>
              <a:rPr lang="en-US" sz="1400" b="1">
                <a:solidFill>
                  <a:srgbClr val="FFFFFF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02</a:t>
            </a:r>
          </a:p>
        </p:txBody>
      </p:sp>
      <p:sp>
        <p:nvSpPr>
          <p:cNvPr id="22" name="TextBox 22"/>
          <p:cNvSpPr txBox="1"/>
          <p:nvPr/>
        </p:nvSpPr>
        <p:spPr>
          <a:xfrm>
            <a:off x="1039108" y="1431925"/>
            <a:ext cx="8707157" cy="9207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7150"/>
              </a:lnSpc>
            </a:pPr>
            <a:r>
              <a:rPr lang="en-US" sz="6500" b="1">
                <a:solidFill>
                  <a:srgbClr val="02CDFF"/>
                </a:solidFill>
                <a:latin typeface="Barlow Condensed Bold"/>
                <a:ea typeface="Barlow Condensed Bold"/>
                <a:cs typeface="Barlow Condensed Bold"/>
                <a:sym typeface="Barlow Condensed Bold"/>
              </a:rPr>
              <a:t>TUJUAN </a:t>
            </a:r>
          </a:p>
        </p:txBody>
      </p:sp>
      <p:sp>
        <p:nvSpPr>
          <p:cNvPr id="23" name="TextBox 23"/>
          <p:cNvSpPr txBox="1"/>
          <p:nvPr/>
        </p:nvSpPr>
        <p:spPr>
          <a:xfrm>
            <a:off x="1473893" y="2733539"/>
            <a:ext cx="7837587" cy="398500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>
              <a:lnSpc>
                <a:spcPts val="4499"/>
              </a:lnSpc>
            </a:pPr>
            <a:r>
              <a:rPr lang="en-US" sz="2499" dirty="0" err="1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Mahasiswa</a:t>
            </a:r>
            <a:r>
              <a:rPr lang="en-US" sz="2499" dirty="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 </a:t>
            </a:r>
            <a:r>
              <a:rPr lang="en-US" sz="2499" dirty="0" err="1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mampu</a:t>
            </a:r>
            <a:r>
              <a:rPr lang="en-US" sz="2499" dirty="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 </a:t>
            </a:r>
            <a:r>
              <a:rPr lang="en-US" sz="2499" dirty="0" err="1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menerapkan</a:t>
            </a:r>
            <a:r>
              <a:rPr lang="en-US" sz="2499" dirty="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 </a:t>
            </a:r>
            <a:r>
              <a:rPr lang="en-US" sz="2499" dirty="0" err="1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konsep</a:t>
            </a:r>
            <a:r>
              <a:rPr lang="en-US" sz="2499" dirty="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 AI </a:t>
            </a:r>
            <a:r>
              <a:rPr lang="en-US" sz="2499" dirty="0" err="1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untuk</a:t>
            </a:r>
            <a:r>
              <a:rPr lang="en-US" sz="2499" dirty="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 </a:t>
            </a:r>
            <a:r>
              <a:rPr lang="en-US" sz="2499" dirty="0" err="1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menyelesaikan</a:t>
            </a:r>
            <a:r>
              <a:rPr lang="en-US" sz="2499" dirty="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 </a:t>
            </a:r>
            <a:r>
              <a:rPr lang="en-US" sz="2499" dirty="0" err="1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permasalahan</a:t>
            </a:r>
            <a:r>
              <a:rPr lang="en-US" sz="2499" dirty="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 </a:t>
            </a:r>
            <a:r>
              <a:rPr lang="en-US" sz="2499" dirty="0" err="1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nyata</a:t>
            </a:r>
            <a:r>
              <a:rPr lang="en-US" sz="2499" dirty="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 </a:t>
            </a:r>
            <a:r>
              <a:rPr lang="en-US" sz="2499" dirty="0" err="1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menggunakan</a:t>
            </a:r>
            <a:r>
              <a:rPr lang="en-US" sz="2499" dirty="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:</a:t>
            </a:r>
          </a:p>
          <a:p>
            <a:pPr marL="1079492" lvl="2" indent="-359831" algn="l">
              <a:lnSpc>
                <a:spcPts val="4499"/>
              </a:lnSpc>
              <a:buAutoNum type="alphaLcPeriod"/>
            </a:pPr>
            <a:r>
              <a:rPr lang="en-US" sz="2499" dirty="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Machine Learning (Supervised Learning)</a:t>
            </a:r>
          </a:p>
          <a:p>
            <a:pPr marL="1079492" lvl="2" indent="-359831" algn="l">
              <a:lnSpc>
                <a:spcPts val="4499"/>
              </a:lnSpc>
              <a:buAutoNum type="alphaLcPeriod"/>
            </a:pPr>
            <a:r>
              <a:rPr lang="en-US" sz="2499" dirty="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Deep Learning Computer Vision</a:t>
            </a:r>
          </a:p>
          <a:p>
            <a:pPr marL="1079492" lvl="2" indent="-359831" algn="l">
              <a:lnSpc>
                <a:spcPts val="4499"/>
              </a:lnSpc>
              <a:buAutoNum type="alphaLcPeriod"/>
            </a:pPr>
            <a:r>
              <a:rPr lang="en-US" sz="2499" dirty="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Deep Learning Natural Language Processing (NLP)</a:t>
            </a:r>
          </a:p>
        </p:txBody>
      </p:sp>
      <p:sp>
        <p:nvSpPr>
          <p:cNvPr id="24" name="TextBox 24"/>
          <p:cNvSpPr txBox="1"/>
          <p:nvPr/>
        </p:nvSpPr>
        <p:spPr>
          <a:xfrm>
            <a:off x="1281320" y="7810228"/>
            <a:ext cx="8030159" cy="13176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499"/>
              </a:lnSpc>
              <a:spcBef>
                <a:spcPct val="0"/>
              </a:spcBef>
            </a:pPr>
            <a:r>
              <a:rPr lang="en-US" sz="2499" dirty="0" err="1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Mahasiswa</a:t>
            </a:r>
            <a:r>
              <a:rPr lang="en-US" sz="2499" dirty="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 </a:t>
            </a:r>
            <a:r>
              <a:rPr lang="en-US" sz="2499" dirty="0" err="1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bekerja</a:t>
            </a:r>
            <a:r>
              <a:rPr lang="en-US" sz="2499" dirty="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 </a:t>
            </a:r>
            <a:r>
              <a:rPr lang="en-US" sz="2499" dirty="0" err="1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secara</a:t>
            </a:r>
            <a:r>
              <a:rPr lang="en-US" sz="2499" dirty="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 </a:t>
            </a:r>
            <a:r>
              <a:rPr lang="en-US" sz="2499" dirty="0" err="1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berkelompok</a:t>
            </a:r>
            <a:r>
              <a:rPr lang="en-US" sz="2499" dirty="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 (2–4 orang) dan </a:t>
            </a:r>
            <a:r>
              <a:rPr lang="en-US" sz="2499" dirty="0" err="1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mengembangkan</a:t>
            </a:r>
            <a:r>
              <a:rPr lang="en-US" sz="2499" dirty="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 </a:t>
            </a:r>
            <a:r>
              <a:rPr lang="en-US" sz="2499" dirty="0" err="1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sebuah</a:t>
            </a:r>
            <a:r>
              <a:rPr lang="en-US" sz="2499" dirty="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 prototype AI </a:t>
            </a:r>
            <a:r>
              <a:rPr lang="en-US" sz="2499" dirty="0" err="1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sederhana</a:t>
            </a:r>
            <a:r>
              <a:rPr lang="en-US" sz="2499" dirty="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17749838" y="7527480"/>
            <a:ext cx="47625" cy="1740345"/>
            <a:chOff x="0" y="0"/>
            <a:chExt cx="12543" cy="458362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12543" cy="458362"/>
            </a:xfrm>
            <a:custGeom>
              <a:avLst/>
              <a:gdLst/>
              <a:ahLst/>
              <a:cxnLst/>
              <a:rect l="l" t="t" r="r" b="b"/>
              <a:pathLst>
                <a:path w="12543" h="458362">
                  <a:moveTo>
                    <a:pt x="0" y="0"/>
                  </a:moveTo>
                  <a:lnTo>
                    <a:pt x="12543" y="0"/>
                  </a:lnTo>
                  <a:lnTo>
                    <a:pt x="12543" y="458362"/>
                  </a:lnTo>
                  <a:lnTo>
                    <a:pt x="0" y="458362"/>
                  </a:lnTo>
                  <a:close/>
                </a:path>
              </a:pathLst>
            </a:custGeom>
            <a:gradFill rotWithShape="1">
              <a:gsLst>
                <a:gs pos="0">
                  <a:srgbClr val="45D0FC">
                    <a:alpha val="100000"/>
                  </a:srgbClr>
                </a:gs>
                <a:gs pos="100000">
                  <a:srgbClr val="085DA0">
                    <a:alpha val="100000"/>
                  </a:srgbClr>
                </a:gs>
              </a:gsLst>
              <a:lin ang="2700000"/>
            </a:gradFill>
          </p:spPr>
        </p:sp>
        <p:sp>
          <p:nvSpPr>
            <p:cNvPr id="4" name="TextBox 4"/>
            <p:cNvSpPr txBox="1"/>
            <p:nvPr/>
          </p:nvSpPr>
          <p:spPr>
            <a:xfrm>
              <a:off x="0" y="-38100"/>
              <a:ext cx="12543" cy="496462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sp>
        <p:nvSpPr>
          <p:cNvPr id="5" name="Freeform 5"/>
          <p:cNvSpPr/>
          <p:nvPr/>
        </p:nvSpPr>
        <p:spPr>
          <a:xfrm>
            <a:off x="473588" y="377888"/>
            <a:ext cx="369285" cy="363243"/>
          </a:xfrm>
          <a:custGeom>
            <a:avLst/>
            <a:gdLst/>
            <a:ahLst/>
            <a:cxnLst/>
            <a:rect l="l" t="t" r="r" b="b"/>
            <a:pathLst>
              <a:path w="369285" h="363243">
                <a:moveTo>
                  <a:pt x="0" y="0"/>
                </a:moveTo>
                <a:lnTo>
                  <a:pt x="369285" y="0"/>
                </a:lnTo>
                <a:lnTo>
                  <a:pt x="369285" y="363242"/>
                </a:lnTo>
                <a:lnTo>
                  <a:pt x="0" y="363242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</p:sp>
      <p:grpSp>
        <p:nvGrpSpPr>
          <p:cNvPr id="6" name="Group 6"/>
          <p:cNvGrpSpPr/>
          <p:nvPr/>
        </p:nvGrpSpPr>
        <p:grpSpPr>
          <a:xfrm>
            <a:off x="17259300" y="0"/>
            <a:ext cx="1028700" cy="1028700"/>
            <a:chOff x="0" y="0"/>
            <a:chExt cx="270933" cy="270933"/>
          </a:xfrm>
        </p:grpSpPr>
        <p:sp>
          <p:nvSpPr>
            <p:cNvPr id="7" name="Freeform 7"/>
            <p:cNvSpPr/>
            <p:nvPr/>
          </p:nvSpPr>
          <p:spPr>
            <a:xfrm>
              <a:off x="0" y="0"/>
              <a:ext cx="270933" cy="270933"/>
            </a:xfrm>
            <a:custGeom>
              <a:avLst/>
              <a:gdLst/>
              <a:ahLst/>
              <a:cxnLst/>
              <a:rect l="l" t="t" r="r" b="b"/>
              <a:pathLst>
                <a:path w="270933" h="270933">
                  <a:moveTo>
                    <a:pt x="0" y="0"/>
                  </a:moveTo>
                  <a:lnTo>
                    <a:pt x="270933" y="0"/>
                  </a:lnTo>
                  <a:lnTo>
                    <a:pt x="270933" y="270933"/>
                  </a:lnTo>
                  <a:lnTo>
                    <a:pt x="0" y="270933"/>
                  </a:lnTo>
                  <a:close/>
                </a:path>
              </a:pathLst>
            </a:custGeom>
            <a:gradFill rotWithShape="1">
              <a:gsLst>
                <a:gs pos="0">
                  <a:srgbClr val="45D0FC">
                    <a:alpha val="100000"/>
                  </a:srgbClr>
                </a:gs>
                <a:gs pos="100000">
                  <a:srgbClr val="085DA0">
                    <a:alpha val="100000"/>
                  </a:srgbClr>
                </a:gs>
              </a:gsLst>
              <a:lin ang="2700000"/>
            </a:gradFill>
          </p:spPr>
        </p:sp>
        <p:sp>
          <p:nvSpPr>
            <p:cNvPr id="8" name="TextBox 8"/>
            <p:cNvSpPr txBox="1"/>
            <p:nvPr/>
          </p:nvSpPr>
          <p:spPr>
            <a:xfrm>
              <a:off x="0" y="-38100"/>
              <a:ext cx="270933" cy="30903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grpSp>
        <p:nvGrpSpPr>
          <p:cNvPr id="9" name="Group 9"/>
          <p:cNvGrpSpPr/>
          <p:nvPr/>
        </p:nvGrpSpPr>
        <p:grpSpPr>
          <a:xfrm>
            <a:off x="17259300" y="9258300"/>
            <a:ext cx="1028700" cy="1028700"/>
            <a:chOff x="0" y="0"/>
            <a:chExt cx="270933" cy="270933"/>
          </a:xfrm>
        </p:grpSpPr>
        <p:sp>
          <p:nvSpPr>
            <p:cNvPr id="10" name="Freeform 10"/>
            <p:cNvSpPr/>
            <p:nvPr/>
          </p:nvSpPr>
          <p:spPr>
            <a:xfrm>
              <a:off x="0" y="0"/>
              <a:ext cx="270933" cy="270933"/>
            </a:xfrm>
            <a:custGeom>
              <a:avLst/>
              <a:gdLst/>
              <a:ahLst/>
              <a:cxnLst/>
              <a:rect l="l" t="t" r="r" b="b"/>
              <a:pathLst>
                <a:path w="270933" h="270933">
                  <a:moveTo>
                    <a:pt x="0" y="0"/>
                  </a:moveTo>
                  <a:lnTo>
                    <a:pt x="270933" y="0"/>
                  </a:lnTo>
                  <a:lnTo>
                    <a:pt x="270933" y="270933"/>
                  </a:lnTo>
                  <a:lnTo>
                    <a:pt x="0" y="270933"/>
                  </a:lnTo>
                  <a:close/>
                </a:path>
              </a:pathLst>
            </a:custGeom>
            <a:gradFill rotWithShape="1">
              <a:gsLst>
                <a:gs pos="0">
                  <a:srgbClr val="45D0FC">
                    <a:alpha val="100000"/>
                  </a:srgbClr>
                </a:gs>
                <a:gs pos="100000">
                  <a:srgbClr val="085DA0">
                    <a:alpha val="100000"/>
                  </a:srgbClr>
                </a:gs>
              </a:gsLst>
              <a:lin ang="2700000"/>
            </a:gradFill>
          </p:spPr>
        </p:sp>
        <p:sp>
          <p:nvSpPr>
            <p:cNvPr id="11" name="TextBox 11"/>
            <p:cNvSpPr txBox="1"/>
            <p:nvPr/>
          </p:nvSpPr>
          <p:spPr>
            <a:xfrm>
              <a:off x="0" y="-38100"/>
              <a:ext cx="270933" cy="30903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grpSp>
        <p:nvGrpSpPr>
          <p:cNvPr id="12" name="Group 12"/>
          <p:cNvGrpSpPr/>
          <p:nvPr/>
        </p:nvGrpSpPr>
        <p:grpSpPr>
          <a:xfrm>
            <a:off x="1028700" y="2403274"/>
            <a:ext cx="7678155" cy="6978687"/>
            <a:chOff x="0" y="0"/>
            <a:chExt cx="2022230" cy="1838008"/>
          </a:xfrm>
          <a:effectLst/>
        </p:grpSpPr>
        <p:sp>
          <p:nvSpPr>
            <p:cNvPr id="13" name="Freeform 13"/>
            <p:cNvSpPr/>
            <p:nvPr/>
          </p:nvSpPr>
          <p:spPr>
            <a:xfrm>
              <a:off x="0" y="0"/>
              <a:ext cx="2022230" cy="1838008"/>
            </a:xfrm>
            <a:custGeom>
              <a:avLst/>
              <a:gdLst/>
              <a:ahLst/>
              <a:cxnLst/>
              <a:rect l="l" t="t" r="r" b="b"/>
              <a:pathLst>
                <a:path w="2022230" h="1838008">
                  <a:moveTo>
                    <a:pt x="51424" y="0"/>
                  </a:moveTo>
                  <a:lnTo>
                    <a:pt x="1970806" y="0"/>
                  </a:lnTo>
                  <a:cubicBezTo>
                    <a:pt x="1999207" y="0"/>
                    <a:pt x="2022230" y="23023"/>
                    <a:pt x="2022230" y="51424"/>
                  </a:cubicBezTo>
                  <a:lnTo>
                    <a:pt x="2022230" y="1786584"/>
                  </a:lnTo>
                  <a:cubicBezTo>
                    <a:pt x="2022230" y="1814985"/>
                    <a:pt x="1999207" y="1838008"/>
                    <a:pt x="1970806" y="1838008"/>
                  </a:cubicBezTo>
                  <a:lnTo>
                    <a:pt x="51424" y="1838008"/>
                  </a:lnTo>
                  <a:cubicBezTo>
                    <a:pt x="37785" y="1838008"/>
                    <a:pt x="24705" y="1832590"/>
                    <a:pt x="15062" y="1822946"/>
                  </a:cubicBezTo>
                  <a:cubicBezTo>
                    <a:pt x="5418" y="1813302"/>
                    <a:pt x="0" y="1800223"/>
                    <a:pt x="0" y="1786584"/>
                  </a:cubicBezTo>
                  <a:lnTo>
                    <a:pt x="0" y="51424"/>
                  </a:lnTo>
                  <a:cubicBezTo>
                    <a:pt x="0" y="23023"/>
                    <a:pt x="23023" y="0"/>
                    <a:pt x="51424" y="0"/>
                  </a:cubicBezTo>
                  <a:close/>
                </a:path>
              </a:pathLst>
            </a:custGeom>
            <a:solidFill>
              <a:srgbClr val="FFFFFF"/>
            </a:solidFill>
            <a:effectLst>
              <a:glow rad="101600">
                <a:schemeClr val="tx1">
                  <a:alpha val="60000"/>
                </a:schemeClr>
              </a:glow>
            </a:effectLst>
          </p:spPr>
        </p:sp>
        <p:sp>
          <p:nvSpPr>
            <p:cNvPr id="14" name="TextBox 14"/>
            <p:cNvSpPr txBox="1"/>
            <p:nvPr/>
          </p:nvSpPr>
          <p:spPr>
            <a:xfrm>
              <a:off x="0" y="-38100"/>
              <a:ext cx="2022230" cy="1876108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15" name="Freeform 15"/>
          <p:cNvSpPr/>
          <p:nvPr/>
        </p:nvSpPr>
        <p:spPr>
          <a:xfrm>
            <a:off x="1721857" y="2879599"/>
            <a:ext cx="1642853" cy="1499103"/>
          </a:xfrm>
          <a:custGeom>
            <a:avLst/>
            <a:gdLst/>
            <a:ahLst/>
            <a:cxnLst/>
            <a:rect l="l" t="t" r="r" b="b"/>
            <a:pathLst>
              <a:path w="1642853" h="1499103">
                <a:moveTo>
                  <a:pt x="0" y="0"/>
                </a:moveTo>
                <a:lnTo>
                  <a:pt x="1642853" y="0"/>
                </a:lnTo>
                <a:lnTo>
                  <a:pt x="1642853" y="1499104"/>
                </a:lnTo>
                <a:lnTo>
                  <a:pt x="0" y="1499104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16" name="Freeform 16"/>
          <p:cNvSpPr/>
          <p:nvPr/>
        </p:nvSpPr>
        <p:spPr>
          <a:xfrm>
            <a:off x="1563576" y="5785231"/>
            <a:ext cx="6608403" cy="214773"/>
          </a:xfrm>
          <a:custGeom>
            <a:avLst/>
            <a:gdLst/>
            <a:ahLst/>
            <a:cxnLst/>
            <a:rect l="l" t="t" r="r" b="b"/>
            <a:pathLst>
              <a:path w="6608403" h="214773">
                <a:moveTo>
                  <a:pt x="0" y="0"/>
                </a:moveTo>
                <a:lnTo>
                  <a:pt x="6608403" y="0"/>
                </a:lnTo>
                <a:lnTo>
                  <a:pt x="6608403" y="214773"/>
                </a:lnTo>
                <a:lnTo>
                  <a:pt x="0" y="214773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</p:sp>
      <p:grpSp>
        <p:nvGrpSpPr>
          <p:cNvPr id="17" name="Group 17"/>
          <p:cNvGrpSpPr/>
          <p:nvPr/>
        </p:nvGrpSpPr>
        <p:grpSpPr>
          <a:xfrm>
            <a:off x="9570737" y="2403274"/>
            <a:ext cx="7678155" cy="6978687"/>
            <a:chOff x="0" y="0"/>
            <a:chExt cx="2022230" cy="1838008"/>
          </a:xfrm>
          <a:effectLst>
            <a:glow rad="101600">
              <a:schemeClr val="tx1">
                <a:alpha val="60000"/>
              </a:schemeClr>
            </a:glow>
          </a:effectLst>
        </p:grpSpPr>
        <p:sp>
          <p:nvSpPr>
            <p:cNvPr id="18" name="Freeform 18"/>
            <p:cNvSpPr/>
            <p:nvPr/>
          </p:nvSpPr>
          <p:spPr>
            <a:xfrm>
              <a:off x="0" y="0"/>
              <a:ext cx="2022230" cy="1838008"/>
            </a:xfrm>
            <a:custGeom>
              <a:avLst/>
              <a:gdLst/>
              <a:ahLst/>
              <a:cxnLst/>
              <a:rect l="l" t="t" r="r" b="b"/>
              <a:pathLst>
                <a:path w="2022230" h="1838008">
                  <a:moveTo>
                    <a:pt x="51424" y="0"/>
                  </a:moveTo>
                  <a:lnTo>
                    <a:pt x="1970806" y="0"/>
                  </a:lnTo>
                  <a:cubicBezTo>
                    <a:pt x="1999207" y="0"/>
                    <a:pt x="2022230" y="23023"/>
                    <a:pt x="2022230" y="51424"/>
                  </a:cubicBezTo>
                  <a:lnTo>
                    <a:pt x="2022230" y="1786584"/>
                  </a:lnTo>
                  <a:cubicBezTo>
                    <a:pt x="2022230" y="1814985"/>
                    <a:pt x="1999207" y="1838008"/>
                    <a:pt x="1970806" y="1838008"/>
                  </a:cubicBezTo>
                  <a:lnTo>
                    <a:pt x="51424" y="1838008"/>
                  </a:lnTo>
                  <a:cubicBezTo>
                    <a:pt x="37785" y="1838008"/>
                    <a:pt x="24705" y="1832590"/>
                    <a:pt x="15062" y="1822946"/>
                  </a:cubicBezTo>
                  <a:cubicBezTo>
                    <a:pt x="5418" y="1813302"/>
                    <a:pt x="0" y="1800223"/>
                    <a:pt x="0" y="1786584"/>
                  </a:cubicBezTo>
                  <a:lnTo>
                    <a:pt x="0" y="51424"/>
                  </a:lnTo>
                  <a:cubicBezTo>
                    <a:pt x="0" y="23023"/>
                    <a:pt x="23023" y="0"/>
                    <a:pt x="51424" y="0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id="19" name="TextBox 19"/>
            <p:cNvSpPr txBox="1"/>
            <p:nvPr/>
          </p:nvSpPr>
          <p:spPr>
            <a:xfrm>
              <a:off x="0" y="-38100"/>
              <a:ext cx="2022230" cy="1876108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20" name="Freeform 20"/>
          <p:cNvSpPr/>
          <p:nvPr/>
        </p:nvSpPr>
        <p:spPr>
          <a:xfrm>
            <a:off x="10217816" y="5785231"/>
            <a:ext cx="6608403" cy="214773"/>
          </a:xfrm>
          <a:custGeom>
            <a:avLst/>
            <a:gdLst/>
            <a:ahLst/>
            <a:cxnLst/>
            <a:rect l="l" t="t" r="r" b="b"/>
            <a:pathLst>
              <a:path w="6608403" h="214773">
                <a:moveTo>
                  <a:pt x="0" y="0"/>
                </a:moveTo>
                <a:lnTo>
                  <a:pt x="6608403" y="0"/>
                </a:lnTo>
                <a:lnTo>
                  <a:pt x="6608403" y="214773"/>
                </a:lnTo>
                <a:lnTo>
                  <a:pt x="0" y="214773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</p:sp>
      <p:sp>
        <p:nvSpPr>
          <p:cNvPr id="21" name="Freeform 21"/>
          <p:cNvSpPr/>
          <p:nvPr/>
        </p:nvSpPr>
        <p:spPr>
          <a:xfrm>
            <a:off x="10231567" y="2674774"/>
            <a:ext cx="1931085" cy="1677630"/>
          </a:xfrm>
          <a:custGeom>
            <a:avLst/>
            <a:gdLst/>
            <a:ahLst/>
            <a:cxnLst/>
            <a:rect l="l" t="t" r="r" b="b"/>
            <a:pathLst>
              <a:path w="1931085" h="1677630">
                <a:moveTo>
                  <a:pt x="0" y="0"/>
                </a:moveTo>
                <a:lnTo>
                  <a:pt x="1931085" y="0"/>
                </a:lnTo>
                <a:lnTo>
                  <a:pt x="1931085" y="1677630"/>
                </a:lnTo>
                <a:lnTo>
                  <a:pt x="0" y="1677630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</p:sp>
      <p:sp>
        <p:nvSpPr>
          <p:cNvPr id="22" name="TextBox 22"/>
          <p:cNvSpPr txBox="1"/>
          <p:nvPr/>
        </p:nvSpPr>
        <p:spPr>
          <a:xfrm>
            <a:off x="1039108" y="441474"/>
            <a:ext cx="2325602" cy="19816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680"/>
              </a:lnSpc>
              <a:spcBef>
                <a:spcPct val="0"/>
              </a:spcBef>
            </a:pPr>
            <a:r>
              <a:rPr lang="en-US" sz="1200">
                <a:solidFill>
                  <a:srgbClr val="1F2020"/>
                </a:solidFill>
                <a:latin typeface="Open Sans"/>
                <a:ea typeface="Open Sans"/>
                <a:cs typeface="Open Sans"/>
                <a:sym typeface="Open Sans"/>
              </a:rPr>
              <a:t>INSTITUT TEKNOLOGI GARUT</a:t>
            </a:r>
          </a:p>
        </p:txBody>
      </p:sp>
      <p:sp>
        <p:nvSpPr>
          <p:cNvPr id="23" name="TextBox 23"/>
          <p:cNvSpPr txBox="1"/>
          <p:nvPr/>
        </p:nvSpPr>
        <p:spPr>
          <a:xfrm>
            <a:off x="15940842" y="441474"/>
            <a:ext cx="978460" cy="19797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680"/>
              </a:lnSpc>
              <a:spcBef>
                <a:spcPct val="0"/>
              </a:spcBef>
            </a:pPr>
            <a:r>
              <a:rPr lang="en-US" sz="1200">
                <a:solidFill>
                  <a:srgbClr val="1F2020"/>
                </a:solidFill>
                <a:latin typeface="Open Sans"/>
                <a:ea typeface="Open Sans"/>
                <a:cs typeface="Open Sans"/>
                <a:sym typeface="Open Sans"/>
              </a:rPr>
              <a:t>Contact</a:t>
            </a:r>
          </a:p>
        </p:txBody>
      </p:sp>
      <p:sp>
        <p:nvSpPr>
          <p:cNvPr id="24" name="TextBox 24"/>
          <p:cNvSpPr txBox="1"/>
          <p:nvPr/>
        </p:nvSpPr>
        <p:spPr>
          <a:xfrm>
            <a:off x="14385046" y="441474"/>
            <a:ext cx="1060497" cy="19797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680"/>
              </a:lnSpc>
              <a:spcBef>
                <a:spcPct val="0"/>
              </a:spcBef>
            </a:pPr>
            <a:r>
              <a:rPr lang="en-US" sz="1200">
                <a:solidFill>
                  <a:srgbClr val="1F2020"/>
                </a:solidFill>
                <a:latin typeface="Open Sans"/>
                <a:ea typeface="Open Sans"/>
                <a:cs typeface="Open Sans"/>
                <a:sym typeface="Open Sans"/>
              </a:rPr>
              <a:t>About Us</a:t>
            </a:r>
          </a:p>
        </p:txBody>
      </p:sp>
      <p:sp>
        <p:nvSpPr>
          <p:cNvPr id="25" name="TextBox 25"/>
          <p:cNvSpPr txBox="1"/>
          <p:nvPr/>
        </p:nvSpPr>
        <p:spPr>
          <a:xfrm>
            <a:off x="13154289" y="441474"/>
            <a:ext cx="735456" cy="19797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680"/>
              </a:lnSpc>
              <a:spcBef>
                <a:spcPct val="0"/>
              </a:spcBef>
            </a:pPr>
            <a:r>
              <a:rPr lang="en-US" sz="1200">
                <a:solidFill>
                  <a:srgbClr val="1F2020"/>
                </a:solidFill>
                <a:latin typeface="Open Sans"/>
                <a:ea typeface="Open Sans"/>
                <a:cs typeface="Open Sans"/>
                <a:sym typeface="Open Sans"/>
              </a:rPr>
              <a:t>Service</a:t>
            </a:r>
          </a:p>
        </p:txBody>
      </p:sp>
      <p:sp>
        <p:nvSpPr>
          <p:cNvPr id="26" name="TextBox 26"/>
          <p:cNvSpPr txBox="1"/>
          <p:nvPr/>
        </p:nvSpPr>
        <p:spPr>
          <a:xfrm>
            <a:off x="11898530" y="441474"/>
            <a:ext cx="809760" cy="19797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680"/>
              </a:lnSpc>
              <a:spcBef>
                <a:spcPct val="0"/>
              </a:spcBef>
            </a:pPr>
            <a:r>
              <a:rPr lang="en-US" sz="1200">
                <a:solidFill>
                  <a:srgbClr val="1F2020"/>
                </a:solidFill>
                <a:latin typeface="Open Sans"/>
                <a:ea typeface="Open Sans"/>
                <a:cs typeface="Open Sans"/>
                <a:sym typeface="Open Sans"/>
              </a:rPr>
              <a:t>Home</a:t>
            </a:r>
          </a:p>
        </p:txBody>
      </p:sp>
      <p:sp>
        <p:nvSpPr>
          <p:cNvPr id="27" name="TextBox 27"/>
          <p:cNvSpPr txBox="1"/>
          <p:nvPr/>
        </p:nvSpPr>
        <p:spPr>
          <a:xfrm>
            <a:off x="17499918" y="9638067"/>
            <a:ext cx="547464" cy="24059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960"/>
              </a:lnSpc>
              <a:spcBef>
                <a:spcPct val="0"/>
              </a:spcBef>
            </a:pPr>
            <a:r>
              <a:rPr lang="en-US" sz="1400" b="1">
                <a:solidFill>
                  <a:srgbClr val="FFFFFF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03</a:t>
            </a:r>
          </a:p>
        </p:txBody>
      </p:sp>
      <p:sp>
        <p:nvSpPr>
          <p:cNvPr id="28" name="TextBox 28"/>
          <p:cNvSpPr txBox="1"/>
          <p:nvPr/>
        </p:nvSpPr>
        <p:spPr>
          <a:xfrm>
            <a:off x="1028700" y="1106605"/>
            <a:ext cx="16230600" cy="87757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6709"/>
              </a:lnSpc>
            </a:pPr>
            <a:r>
              <a:rPr lang="en-US" sz="6099" b="1">
                <a:solidFill>
                  <a:srgbClr val="02CDFF"/>
                </a:solidFill>
                <a:latin typeface="Barlow Condensed Bold"/>
                <a:ea typeface="Barlow Condensed Bold"/>
                <a:cs typeface="Barlow Condensed Bold"/>
                <a:sym typeface="Barlow Condensed Bold"/>
              </a:rPr>
              <a:t>Ketentuan &amp; Jenis Projek Machine Learning</a:t>
            </a:r>
          </a:p>
        </p:txBody>
      </p:sp>
      <p:sp>
        <p:nvSpPr>
          <p:cNvPr id="29" name="TextBox 29"/>
          <p:cNvSpPr txBox="1"/>
          <p:nvPr/>
        </p:nvSpPr>
        <p:spPr>
          <a:xfrm>
            <a:off x="1028700" y="4715510"/>
            <a:ext cx="7678155" cy="79883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219"/>
              </a:lnSpc>
              <a:spcBef>
                <a:spcPct val="0"/>
              </a:spcBef>
            </a:pPr>
            <a:r>
              <a:rPr lang="en-US" sz="2299" b="1">
                <a:solidFill>
                  <a:srgbClr val="000000"/>
                </a:solidFill>
                <a:latin typeface="Poppins Bold"/>
                <a:ea typeface="Poppins Bold"/>
                <a:cs typeface="Poppins Bold"/>
                <a:sym typeface="Poppins Bold"/>
              </a:rPr>
              <a:t>Fokus:</a:t>
            </a:r>
            <a:r>
              <a:rPr lang="en-US" sz="2299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 Memprediksi kategori atau label diskrit.</a:t>
            </a:r>
          </a:p>
          <a:p>
            <a:pPr algn="ctr">
              <a:lnSpc>
                <a:spcPts val="3219"/>
              </a:lnSpc>
              <a:spcBef>
                <a:spcPct val="0"/>
              </a:spcBef>
            </a:pPr>
            <a:r>
              <a:rPr lang="en-US" sz="2299" b="1">
                <a:solidFill>
                  <a:srgbClr val="000000"/>
                </a:solidFill>
                <a:latin typeface="Poppins Bold"/>
                <a:ea typeface="Poppins Bold"/>
                <a:cs typeface="Poppins Bold"/>
                <a:sym typeface="Poppins Bold"/>
              </a:rPr>
              <a:t>Output: </a:t>
            </a:r>
            <a:r>
              <a:rPr lang="en-US" sz="2299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Pilihan kelas (misal: Ya/Tidak, A/B/C).</a:t>
            </a:r>
          </a:p>
        </p:txBody>
      </p:sp>
      <p:sp>
        <p:nvSpPr>
          <p:cNvPr id="30" name="TextBox 30"/>
          <p:cNvSpPr txBox="1"/>
          <p:nvPr/>
        </p:nvSpPr>
        <p:spPr>
          <a:xfrm>
            <a:off x="4131274" y="3100122"/>
            <a:ext cx="3155399" cy="88408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6826"/>
              </a:lnSpc>
            </a:pPr>
            <a:r>
              <a:rPr lang="en-US" sz="6205" b="1">
                <a:solidFill>
                  <a:srgbClr val="02CDFF"/>
                </a:solidFill>
                <a:latin typeface="Barlow Condensed Bold"/>
                <a:ea typeface="Barlow Condensed Bold"/>
                <a:cs typeface="Barlow Condensed Bold"/>
                <a:sym typeface="Barlow Condensed Bold"/>
              </a:rPr>
              <a:t>Klasifikasi</a:t>
            </a:r>
          </a:p>
        </p:txBody>
      </p:sp>
      <p:sp>
        <p:nvSpPr>
          <p:cNvPr id="31" name="TextBox 31"/>
          <p:cNvSpPr txBox="1"/>
          <p:nvPr/>
        </p:nvSpPr>
        <p:spPr>
          <a:xfrm>
            <a:off x="1387757" y="6123829"/>
            <a:ext cx="2574667" cy="39878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219"/>
              </a:lnSpc>
              <a:spcBef>
                <a:spcPct val="0"/>
              </a:spcBef>
            </a:pPr>
            <a:r>
              <a:rPr lang="en-US" sz="2299" b="1">
                <a:solidFill>
                  <a:srgbClr val="000000"/>
                </a:solidFill>
                <a:latin typeface="Poppins Bold"/>
                <a:ea typeface="Poppins Bold"/>
                <a:cs typeface="Poppins Bold"/>
                <a:sym typeface="Poppins Bold"/>
              </a:rPr>
              <a:t>Contoh Projek:</a:t>
            </a:r>
          </a:p>
        </p:txBody>
      </p:sp>
      <p:sp>
        <p:nvSpPr>
          <p:cNvPr id="32" name="TextBox 32"/>
          <p:cNvSpPr txBox="1"/>
          <p:nvPr/>
        </p:nvSpPr>
        <p:spPr>
          <a:xfrm>
            <a:off x="1267675" y="6616255"/>
            <a:ext cx="7678155" cy="17557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539746" lvl="1" indent="-269873" algn="l">
              <a:lnSpc>
                <a:spcPts val="3499"/>
              </a:lnSpc>
              <a:buAutoNum type="arabicPeriod"/>
            </a:pPr>
            <a:r>
              <a:rPr lang="en-US" sz="2499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 Diagnosa Penyakit Pasien (Sakit/Sehat)</a:t>
            </a:r>
          </a:p>
          <a:p>
            <a:pPr marL="539746" lvl="1" indent="-269873" algn="l">
              <a:lnSpc>
                <a:spcPts val="3499"/>
              </a:lnSpc>
              <a:buAutoNum type="arabicPeriod"/>
            </a:pPr>
            <a:r>
              <a:rPr lang="en-US" sz="2499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 klasifikasi Jenis Hewan</a:t>
            </a:r>
          </a:p>
          <a:p>
            <a:pPr marL="539746" lvl="1" indent="-269873" algn="l">
              <a:lnSpc>
                <a:spcPts val="3499"/>
              </a:lnSpc>
              <a:buAutoNum type="arabicPeriod"/>
            </a:pPr>
            <a:r>
              <a:rPr lang="en-US" sz="2499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 Klasifikasi Performa Nilai Mahasiswa</a:t>
            </a:r>
          </a:p>
          <a:p>
            <a:pPr marL="539746" lvl="1" indent="-269873" algn="l">
              <a:lnSpc>
                <a:spcPts val="3499"/>
              </a:lnSpc>
              <a:buAutoNum type="arabicPeriod"/>
            </a:pPr>
            <a:r>
              <a:rPr lang="en-US" sz="2499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 Deteksi Email Spam atau Phishing</a:t>
            </a:r>
          </a:p>
        </p:txBody>
      </p:sp>
      <p:sp>
        <p:nvSpPr>
          <p:cNvPr id="33" name="TextBox 33"/>
          <p:cNvSpPr txBox="1"/>
          <p:nvPr/>
        </p:nvSpPr>
        <p:spPr>
          <a:xfrm>
            <a:off x="9821763" y="4476750"/>
            <a:ext cx="7236363" cy="119888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219"/>
              </a:lnSpc>
              <a:spcBef>
                <a:spcPct val="0"/>
              </a:spcBef>
            </a:pPr>
            <a:r>
              <a:rPr lang="en-US" sz="2299" b="1">
                <a:solidFill>
                  <a:srgbClr val="000000"/>
                </a:solidFill>
                <a:latin typeface="Poppins Bold"/>
                <a:ea typeface="Poppins Bold"/>
                <a:cs typeface="Poppins Bold"/>
                <a:sym typeface="Poppins Bold"/>
              </a:rPr>
              <a:t>Fokus:</a:t>
            </a:r>
            <a:r>
              <a:rPr lang="en-US" sz="2299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 Memprediksi angka numerik yang kontinu.</a:t>
            </a:r>
          </a:p>
          <a:p>
            <a:pPr algn="ctr">
              <a:lnSpc>
                <a:spcPts val="3219"/>
              </a:lnSpc>
              <a:spcBef>
                <a:spcPct val="0"/>
              </a:spcBef>
            </a:pPr>
            <a:r>
              <a:rPr lang="en-US" sz="2299" b="1">
                <a:solidFill>
                  <a:srgbClr val="000000"/>
                </a:solidFill>
                <a:latin typeface="Poppins Bold"/>
                <a:ea typeface="Poppins Bold"/>
                <a:cs typeface="Poppins Bold"/>
                <a:sym typeface="Poppins Bold"/>
              </a:rPr>
              <a:t>Output: </a:t>
            </a:r>
            <a:r>
              <a:rPr lang="en-US" sz="2299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Besaran angka pasti (misal: Harga, Suhu).</a:t>
            </a:r>
          </a:p>
        </p:txBody>
      </p:sp>
      <p:sp>
        <p:nvSpPr>
          <p:cNvPr id="34" name="TextBox 34"/>
          <p:cNvSpPr txBox="1"/>
          <p:nvPr/>
        </p:nvSpPr>
        <p:spPr>
          <a:xfrm>
            <a:off x="12673311" y="3100122"/>
            <a:ext cx="3155399" cy="88408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6826"/>
              </a:lnSpc>
            </a:pPr>
            <a:r>
              <a:rPr lang="en-US" sz="6205" b="1">
                <a:solidFill>
                  <a:srgbClr val="02CDFF"/>
                </a:solidFill>
                <a:latin typeface="Barlow Condensed Bold"/>
                <a:ea typeface="Barlow Condensed Bold"/>
                <a:cs typeface="Barlow Condensed Bold"/>
                <a:sym typeface="Barlow Condensed Bold"/>
              </a:rPr>
              <a:t>Regresi</a:t>
            </a:r>
          </a:p>
        </p:txBody>
      </p:sp>
      <p:sp>
        <p:nvSpPr>
          <p:cNvPr id="35" name="TextBox 35"/>
          <p:cNvSpPr txBox="1"/>
          <p:nvPr/>
        </p:nvSpPr>
        <p:spPr>
          <a:xfrm>
            <a:off x="10098645" y="6123829"/>
            <a:ext cx="2574667" cy="39878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219"/>
              </a:lnSpc>
              <a:spcBef>
                <a:spcPct val="0"/>
              </a:spcBef>
            </a:pPr>
            <a:r>
              <a:rPr lang="en-US" sz="2299" b="1">
                <a:solidFill>
                  <a:srgbClr val="000000"/>
                </a:solidFill>
                <a:latin typeface="Poppins Bold"/>
                <a:ea typeface="Poppins Bold"/>
                <a:cs typeface="Poppins Bold"/>
                <a:sym typeface="Poppins Bold"/>
              </a:rPr>
              <a:t>Contoh Projek:</a:t>
            </a:r>
          </a:p>
        </p:txBody>
      </p:sp>
      <p:sp>
        <p:nvSpPr>
          <p:cNvPr id="36" name="TextBox 36"/>
          <p:cNvSpPr txBox="1"/>
          <p:nvPr/>
        </p:nvSpPr>
        <p:spPr>
          <a:xfrm>
            <a:off x="10050668" y="6616255"/>
            <a:ext cx="6775551" cy="17557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539746" lvl="1" indent="-269873" algn="l">
              <a:lnSpc>
                <a:spcPts val="3499"/>
              </a:lnSpc>
              <a:buAutoNum type="arabicPeriod"/>
            </a:pPr>
            <a:r>
              <a:rPr lang="en-US" sz="2499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Estimasi Harga Properti/Rumah</a:t>
            </a:r>
          </a:p>
          <a:p>
            <a:pPr marL="539746" lvl="1" indent="-269873" algn="l">
              <a:lnSpc>
                <a:spcPts val="3499"/>
              </a:lnSpc>
              <a:buAutoNum type="arabicPeriod"/>
            </a:pPr>
            <a:r>
              <a:rPr lang="en-US" sz="2499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Prediksi Gaji Karyawan</a:t>
            </a:r>
          </a:p>
          <a:p>
            <a:pPr marL="539746" lvl="1" indent="-269873" algn="l">
              <a:lnSpc>
                <a:spcPts val="3499"/>
              </a:lnSpc>
              <a:buAutoNum type="arabicPeriod"/>
            </a:pPr>
            <a:r>
              <a:rPr lang="en-US" sz="2499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Estimasi Waktu Pengiriman Barang</a:t>
            </a:r>
          </a:p>
          <a:p>
            <a:pPr marL="539746" lvl="1" indent="-269873" algn="l">
              <a:lnSpc>
                <a:spcPts val="3499"/>
              </a:lnSpc>
              <a:buAutoNum type="arabicPeriod"/>
            </a:pPr>
            <a:r>
              <a:rPr lang="en-US" sz="2499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Prediksi Tingkat Curah Hujan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17749838" y="7527480"/>
            <a:ext cx="47625" cy="1740345"/>
            <a:chOff x="0" y="0"/>
            <a:chExt cx="12543" cy="458362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12543" cy="458362"/>
            </a:xfrm>
            <a:custGeom>
              <a:avLst/>
              <a:gdLst/>
              <a:ahLst/>
              <a:cxnLst/>
              <a:rect l="l" t="t" r="r" b="b"/>
              <a:pathLst>
                <a:path w="12543" h="458362">
                  <a:moveTo>
                    <a:pt x="0" y="0"/>
                  </a:moveTo>
                  <a:lnTo>
                    <a:pt x="12543" y="0"/>
                  </a:lnTo>
                  <a:lnTo>
                    <a:pt x="12543" y="458362"/>
                  </a:lnTo>
                  <a:lnTo>
                    <a:pt x="0" y="458362"/>
                  </a:lnTo>
                  <a:close/>
                </a:path>
              </a:pathLst>
            </a:custGeom>
            <a:gradFill rotWithShape="1">
              <a:gsLst>
                <a:gs pos="0">
                  <a:srgbClr val="45D0FC">
                    <a:alpha val="100000"/>
                  </a:srgbClr>
                </a:gs>
                <a:gs pos="100000">
                  <a:srgbClr val="085DA0">
                    <a:alpha val="100000"/>
                  </a:srgbClr>
                </a:gs>
              </a:gsLst>
              <a:lin ang="2700000"/>
            </a:gradFill>
          </p:spPr>
        </p:sp>
        <p:sp>
          <p:nvSpPr>
            <p:cNvPr id="4" name="TextBox 4"/>
            <p:cNvSpPr txBox="1"/>
            <p:nvPr/>
          </p:nvSpPr>
          <p:spPr>
            <a:xfrm>
              <a:off x="0" y="-38100"/>
              <a:ext cx="12543" cy="496462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sp>
        <p:nvSpPr>
          <p:cNvPr id="5" name="Freeform 5"/>
          <p:cNvSpPr/>
          <p:nvPr/>
        </p:nvSpPr>
        <p:spPr>
          <a:xfrm>
            <a:off x="473588" y="377888"/>
            <a:ext cx="369285" cy="363243"/>
          </a:xfrm>
          <a:custGeom>
            <a:avLst/>
            <a:gdLst/>
            <a:ahLst/>
            <a:cxnLst/>
            <a:rect l="l" t="t" r="r" b="b"/>
            <a:pathLst>
              <a:path w="369285" h="363243">
                <a:moveTo>
                  <a:pt x="0" y="0"/>
                </a:moveTo>
                <a:lnTo>
                  <a:pt x="369285" y="0"/>
                </a:lnTo>
                <a:lnTo>
                  <a:pt x="369285" y="363242"/>
                </a:lnTo>
                <a:lnTo>
                  <a:pt x="0" y="363242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</p:sp>
      <p:grpSp>
        <p:nvGrpSpPr>
          <p:cNvPr id="6" name="Group 6"/>
          <p:cNvGrpSpPr/>
          <p:nvPr/>
        </p:nvGrpSpPr>
        <p:grpSpPr>
          <a:xfrm>
            <a:off x="17259300" y="0"/>
            <a:ext cx="1028700" cy="1028700"/>
            <a:chOff x="0" y="0"/>
            <a:chExt cx="270933" cy="270933"/>
          </a:xfrm>
        </p:grpSpPr>
        <p:sp>
          <p:nvSpPr>
            <p:cNvPr id="7" name="Freeform 7"/>
            <p:cNvSpPr/>
            <p:nvPr/>
          </p:nvSpPr>
          <p:spPr>
            <a:xfrm>
              <a:off x="0" y="0"/>
              <a:ext cx="270933" cy="270933"/>
            </a:xfrm>
            <a:custGeom>
              <a:avLst/>
              <a:gdLst/>
              <a:ahLst/>
              <a:cxnLst/>
              <a:rect l="l" t="t" r="r" b="b"/>
              <a:pathLst>
                <a:path w="270933" h="270933">
                  <a:moveTo>
                    <a:pt x="0" y="0"/>
                  </a:moveTo>
                  <a:lnTo>
                    <a:pt x="270933" y="0"/>
                  </a:lnTo>
                  <a:lnTo>
                    <a:pt x="270933" y="270933"/>
                  </a:lnTo>
                  <a:lnTo>
                    <a:pt x="0" y="270933"/>
                  </a:lnTo>
                  <a:close/>
                </a:path>
              </a:pathLst>
            </a:custGeom>
            <a:gradFill rotWithShape="1">
              <a:gsLst>
                <a:gs pos="0">
                  <a:srgbClr val="45D0FC">
                    <a:alpha val="100000"/>
                  </a:srgbClr>
                </a:gs>
                <a:gs pos="100000">
                  <a:srgbClr val="085DA0">
                    <a:alpha val="100000"/>
                  </a:srgbClr>
                </a:gs>
              </a:gsLst>
              <a:lin ang="2700000"/>
            </a:gradFill>
          </p:spPr>
        </p:sp>
        <p:sp>
          <p:nvSpPr>
            <p:cNvPr id="8" name="TextBox 8"/>
            <p:cNvSpPr txBox="1"/>
            <p:nvPr/>
          </p:nvSpPr>
          <p:spPr>
            <a:xfrm>
              <a:off x="0" y="-38100"/>
              <a:ext cx="270933" cy="30903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grpSp>
        <p:nvGrpSpPr>
          <p:cNvPr id="9" name="Group 9"/>
          <p:cNvGrpSpPr/>
          <p:nvPr/>
        </p:nvGrpSpPr>
        <p:grpSpPr>
          <a:xfrm>
            <a:off x="17259300" y="9258300"/>
            <a:ext cx="1028700" cy="1028700"/>
            <a:chOff x="0" y="0"/>
            <a:chExt cx="270933" cy="270933"/>
          </a:xfrm>
        </p:grpSpPr>
        <p:sp>
          <p:nvSpPr>
            <p:cNvPr id="10" name="Freeform 10"/>
            <p:cNvSpPr/>
            <p:nvPr/>
          </p:nvSpPr>
          <p:spPr>
            <a:xfrm>
              <a:off x="0" y="0"/>
              <a:ext cx="270933" cy="270933"/>
            </a:xfrm>
            <a:custGeom>
              <a:avLst/>
              <a:gdLst/>
              <a:ahLst/>
              <a:cxnLst/>
              <a:rect l="l" t="t" r="r" b="b"/>
              <a:pathLst>
                <a:path w="270933" h="270933">
                  <a:moveTo>
                    <a:pt x="0" y="0"/>
                  </a:moveTo>
                  <a:lnTo>
                    <a:pt x="270933" y="0"/>
                  </a:lnTo>
                  <a:lnTo>
                    <a:pt x="270933" y="270933"/>
                  </a:lnTo>
                  <a:lnTo>
                    <a:pt x="0" y="270933"/>
                  </a:lnTo>
                  <a:close/>
                </a:path>
              </a:pathLst>
            </a:custGeom>
            <a:gradFill rotWithShape="1">
              <a:gsLst>
                <a:gs pos="0">
                  <a:srgbClr val="45D0FC">
                    <a:alpha val="100000"/>
                  </a:srgbClr>
                </a:gs>
                <a:gs pos="100000">
                  <a:srgbClr val="085DA0">
                    <a:alpha val="100000"/>
                  </a:srgbClr>
                </a:gs>
              </a:gsLst>
              <a:lin ang="2700000"/>
            </a:gradFill>
          </p:spPr>
        </p:sp>
        <p:sp>
          <p:nvSpPr>
            <p:cNvPr id="11" name="TextBox 11"/>
            <p:cNvSpPr txBox="1"/>
            <p:nvPr/>
          </p:nvSpPr>
          <p:spPr>
            <a:xfrm>
              <a:off x="0" y="-38100"/>
              <a:ext cx="270933" cy="30903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grpSp>
        <p:nvGrpSpPr>
          <p:cNvPr id="12" name="Group 12"/>
          <p:cNvGrpSpPr/>
          <p:nvPr/>
        </p:nvGrpSpPr>
        <p:grpSpPr>
          <a:xfrm>
            <a:off x="1028700" y="2403274"/>
            <a:ext cx="7678155" cy="6978687"/>
            <a:chOff x="0" y="0"/>
            <a:chExt cx="2022230" cy="1838008"/>
          </a:xfrm>
          <a:effectLst>
            <a:glow rad="101600">
              <a:schemeClr val="tx1">
                <a:alpha val="60000"/>
              </a:schemeClr>
            </a:glow>
          </a:effectLst>
        </p:grpSpPr>
        <p:sp>
          <p:nvSpPr>
            <p:cNvPr id="13" name="Freeform 13"/>
            <p:cNvSpPr/>
            <p:nvPr/>
          </p:nvSpPr>
          <p:spPr>
            <a:xfrm>
              <a:off x="0" y="0"/>
              <a:ext cx="2022230" cy="1838008"/>
            </a:xfrm>
            <a:custGeom>
              <a:avLst/>
              <a:gdLst/>
              <a:ahLst/>
              <a:cxnLst/>
              <a:rect l="l" t="t" r="r" b="b"/>
              <a:pathLst>
                <a:path w="2022230" h="1838008">
                  <a:moveTo>
                    <a:pt x="51424" y="0"/>
                  </a:moveTo>
                  <a:lnTo>
                    <a:pt x="1970806" y="0"/>
                  </a:lnTo>
                  <a:cubicBezTo>
                    <a:pt x="1999207" y="0"/>
                    <a:pt x="2022230" y="23023"/>
                    <a:pt x="2022230" y="51424"/>
                  </a:cubicBezTo>
                  <a:lnTo>
                    <a:pt x="2022230" y="1786584"/>
                  </a:lnTo>
                  <a:cubicBezTo>
                    <a:pt x="2022230" y="1814985"/>
                    <a:pt x="1999207" y="1838008"/>
                    <a:pt x="1970806" y="1838008"/>
                  </a:cubicBezTo>
                  <a:lnTo>
                    <a:pt x="51424" y="1838008"/>
                  </a:lnTo>
                  <a:cubicBezTo>
                    <a:pt x="37785" y="1838008"/>
                    <a:pt x="24705" y="1832590"/>
                    <a:pt x="15062" y="1822946"/>
                  </a:cubicBezTo>
                  <a:cubicBezTo>
                    <a:pt x="5418" y="1813302"/>
                    <a:pt x="0" y="1800223"/>
                    <a:pt x="0" y="1786584"/>
                  </a:cubicBezTo>
                  <a:lnTo>
                    <a:pt x="0" y="51424"/>
                  </a:lnTo>
                  <a:cubicBezTo>
                    <a:pt x="0" y="23023"/>
                    <a:pt x="23023" y="0"/>
                    <a:pt x="51424" y="0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id="14" name="TextBox 14"/>
            <p:cNvSpPr txBox="1"/>
            <p:nvPr/>
          </p:nvSpPr>
          <p:spPr>
            <a:xfrm>
              <a:off x="0" y="-38100"/>
              <a:ext cx="2022230" cy="1876108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15" name="Freeform 15"/>
          <p:cNvSpPr/>
          <p:nvPr/>
        </p:nvSpPr>
        <p:spPr>
          <a:xfrm>
            <a:off x="1563576" y="6015341"/>
            <a:ext cx="6608403" cy="214773"/>
          </a:xfrm>
          <a:custGeom>
            <a:avLst/>
            <a:gdLst/>
            <a:ahLst/>
            <a:cxnLst/>
            <a:rect l="l" t="t" r="r" b="b"/>
            <a:pathLst>
              <a:path w="6608403" h="214773">
                <a:moveTo>
                  <a:pt x="0" y="0"/>
                </a:moveTo>
                <a:lnTo>
                  <a:pt x="6608403" y="0"/>
                </a:lnTo>
                <a:lnTo>
                  <a:pt x="6608403" y="214773"/>
                </a:lnTo>
                <a:lnTo>
                  <a:pt x="0" y="214773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grpSp>
        <p:nvGrpSpPr>
          <p:cNvPr id="16" name="Group 16"/>
          <p:cNvGrpSpPr/>
          <p:nvPr/>
        </p:nvGrpSpPr>
        <p:grpSpPr>
          <a:xfrm>
            <a:off x="9570737" y="2403274"/>
            <a:ext cx="7678155" cy="6978687"/>
            <a:chOff x="0" y="0"/>
            <a:chExt cx="2022230" cy="1838008"/>
          </a:xfrm>
          <a:effectLst>
            <a:glow rad="101600">
              <a:schemeClr val="tx1">
                <a:alpha val="60000"/>
              </a:schemeClr>
            </a:glow>
          </a:effectLst>
        </p:grpSpPr>
        <p:sp>
          <p:nvSpPr>
            <p:cNvPr id="17" name="Freeform 17"/>
            <p:cNvSpPr/>
            <p:nvPr/>
          </p:nvSpPr>
          <p:spPr>
            <a:xfrm>
              <a:off x="0" y="0"/>
              <a:ext cx="2022230" cy="1838008"/>
            </a:xfrm>
            <a:custGeom>
              <a:avLst/>
              <a:gdLst/>
              <a:ahLst/>
              <a:cxnLst/>
              <a:rect l="l" t="t" r="r" b="b"/>
              <a:pathLst>
                <a:path w="2022230" h="1838008">
                  <a:moveTo>
                    <a:pt x="51424" y="0"/>
                  </a:moveTo>
                  <a:lnTo>
                    <a:pt x="1970806" y="0"/>
                  </a:lnTo>
                  <a:cubicBezTo>
                    <a:pt x="1999207" y="0"/>
                    <a:pt x="2022230" y="23023"/>
                    <a:pt x="2022230" y="51424"/>
                  </a:cubicBezTo>
                  <a:lnTo>
                    <a:pt x="2022230" y="1786584"/>
                  </a:lnTo>
                  <a:cubicBezTo>
                    <a:pt x="2022230" y="1814985"/>
                    <a:pt x="1999207" y="1838008"/>
                    <a:pt x="1970806" y="1838008"/>
                  </a:cubicBezTo>
                  <a:lnTo>
                    <a:pt x="51424" y="1838008"/>
                  </a:lnTo>
                  <a:cubicBezTo>
                    <a:pt x="37785" y="1838008"/>
                    <a:pt x="24705" y="1832590"/>
                    <a:pt x="15062" y="1822946"/>
                  </a:cubicBezTo>
                  <a:cubicBezTo>
                    <a:pt x="5418" y="1813302"/>
                    <a:pt x="0" y="1800223"/>
                    <a:pt x="0" y="1786584"/>
                  </a:cubicBezTo>
                  <a:lnTo>
                    <a:pt x="0" y="51424"/>
                  </a:lnTo>
                  <a:cubicBezTo>
                    <a:pt x="0" y="23023"/>
                    <a:pt x="23023" y="0"/>
                    <a:pt x="51424" y="0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id="18" name="TextBox 18"/>
            <p:cNvSpPr txBox="1"/>
            <p:nvPr/>
          </p:nvSpPr>
          <p:spPr>
            <a:xfrm>
              <a:off x="0" y="-38100"/>
              <a:ext cx="2022230" cy="1876108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19" name="Freeform 19"/>
          <p:cNvSpPr/>
          <p:nvPr/>
        </p:nvSpPr>
        <p:spPr>
          <a:xfrm>
            <a:off x="10217816" y="6015341"/>
            <a:ext cx="6608403" cy="214773"/>
          </a:xfrm>
          <a:custGeom>
            <a:avLst/>
            <a:gdLst/>
            <a:ahLst/>
            <a:cxnLst/>
            <a:rect l="l" t="t" r="r" b="b"/>
            <a:pathLst>
              <a:path w="6608403" h="214773">
                <a:moveTo>
                  <a:pt x="0" y="0"/>
                </a:moveTo>
                <a:lnTo>
                  <a:pt x="6608403" y="0"/>
                </a:lnTo>
                <a:lnTo>
                  <a:pt x="6608403" y="214773"/>
                </a:lnTo>
                <a:lnTo>
                  <a:pt x="0" y="214773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20" name="Freeform 20"/>
          <p:cNvSpPr/>
          <p:nvPr/>
        </p:nvSpPr>
        <p:spPr>
          <a:xfrm>
            <a:off x="1757901" y="2633557"/>
            <a:ext cx="1812136" cy="1812136"/>
          </a:xfrm>
          <a:custGeom>
            <a:avLst/>
            <a:gdLst/>
            <a:ahLst/>
            <a:cxnLst/>
            <a:rect l="l" t="t" r="r" b="b"/>
            <a:pathLst>
              <a:path w="1812136" h="1812136">
                <a:moveTo>
                  <a:pt x="0" y="0"/>
                </a:moveTo>
                <a:lnTo>
                  <a:pt x="1812135" y="0"/>
                </a:lnTo>
                <a:lnTo>
                  <a:pt x="1812135" y="1812136"/>
                </a:lnTo>
                <a:lnTo>
                  <a:pt x="0" y="1812136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</p:sp>
      <p:sp>
        <p:nvSpPr>
          <p:cNvPr id="21" name="Freeform 21"/>
          <p:cNvSpPr/>
          <p:nvPr/>
        </p:nvSpPr>
        <p:spPr>
          <a:xfrm>
            <a:off x="10217816" y="2738049"/>
            <a:ext cx="1804164" cy="1804164"/>
          </a:xfrm>
          <a:custGeom>
            <a:avLst/>
            <a:gdLst/>
            <a:ahLst/>
            <a:cxnLst/>
            <a:rect l="l" t="t" r="r" b="b"/>
            <a:pathLst>
              <a:path w="1804164" h="1804164">
                <a:moveTo>
                  <a:pt x="0" y="0"/>
                </a:moveTo>
                <a:lnTo>
                  <a:pt x="1804164" y="0"/>
                </a:lnTo>
                <a:lnTo>
                  <a:pt x="1804164" y="1804163"/>
                </a:lnTo>
                <a:lnTo>
                  <a:pt x="0" y="1804163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</p:sp>
      <p:sp>
        <p:nvSpPr>
          <p:cNvPr id="22" name="TextBox 22"/>
          <p:cNvSpPr txBox="1"/>
          <p:nvPr/>
        </p:nvSpPr>
        <p:spPr>
          <a:xfrm>
            <a:off x="1039108" y="441474"/>
            <a:ext cx="2325602" cy="19816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680"/>
              </a:lnSpc>
              <a:spcBef>
                <a:spcPct val="0"/>
              </a:spcBef>
            </a:pPr>
            <a:r>
              <a:rPr lang="en-US" sz="1200">
                <a:solidFill>
                  <a:srgbClr val="1F2020"/>
                </a:solidFill>
                <a:latin typeface="Open Sans"/>
                <a:ea typeface="Open Sans"/>
                <a:cs typeface="Open Sans"/>
                <a:sym typeface="Open Sans"/>
              </a:rPr>
              <a:t>INSTITUT TEKNOLOGI GARUT</a:t>
            </a:r>
          </a:p>
        </p:txBody>
      </p:sp>
      <p:sp>
        <p:nvSpPr>
          <p:cNvPr id="23" name="TextBox 23"/>
          <p:cNvSpPr txBox="1"/>
          <p:nvPr/>
        </p:nvSpPr>
        <p:spPr>
          <a:xfrm>
            <a:off x="15940842" y="441474"/>
            <a:ext cx="978460" cy="19797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680"/>
              </a:lnSpc>
              <a:spcBef>
                <a:spcPct val="0"/>
              </a:spcBef>
            </a:pPr>
            <a:r>
              <a:rPr lang="en-US" sz="1200">
                <a:solidFill>
                  <a:srgbClr val="1F2020"/>
                </a:solidFill>
                <a:latin typeface="Open Sans"/>
                <a:ea typeface="Open Sans"/>
                <a:cs typeface="Open Sans"/>
                <a:sym typeface="Open Sans"/>
              </a:rPr>
              <a:t>Contact</a:t>
            </a:r>
          </a:p>
        </p:txBody>
      </p:sp>
      <p:sp>
        <p:nvSpPr>
          <p:cNvPr id="24" name="TextBox 24"/>
          <p:cNvSpPr txBox="1"/>
          <p:nvPr/>
        </p:nvSpPr>
        <p:spPr>
          <a:xfrm>
            <a:off x="14385046" y="441474"/>
            <a:ext cx="1060497" cy="19797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680"/>
              </a:lnSpc>
              <a:spcBef>
                <a:spcPct val="0"/>
              </a:spcBef>
            </a:pPr>
            <a:r>
              <a:rPr lang="en-US" sz="1200">
                <a:solidFill>
                  <a:srgbClr val="1F2020"/>
                </a:solidFill>
                <a:latin typeface="Open Sans"/>
                <a:ea typeface="Open Sans"/>
                <a:cs typeface="Open Sans"/>
                <a:sym typeface="Open Sans"/>
              </a:rPr>
              <a:t>About Us</a:t>
            </a:r>
          </a:p>
        </p:txBody>
      </p:sp>
      <p:sp>
        <p:nvSpPr>
          <p:cNvPr id="25" name="TextBox 25"/>
          <p:cNvSpPr txBox="1"/>
          <p:nvPr/>
        </p:nvSpPr>
        <p:spPr>
          <a:xfrm>
            <a:off x="13154289" y="441474"/>
            <a:ext cx="735456" cy="19797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680"/>
              </a:lnSpc>
              <a:spcBef>
                <a:spcPct val="0"/>
              </a:spcBef>
            </a:pPr>
            <a:r>
              <a:rPr lang="en-US" sz="1200">
                <a:solidFill>
                  <a:srgbClr val="1F2020"/>
                </a:solidFill>
                <a:latin typeface="Open Sans"/>
                <a:ea typeface="Open Sans"/>
                <a:cs typeface="Open Sans"/>
                <a:sym typeface="Open Sans"/>
              </a:rPr>
              <a:t>Service</a:t>
            </a:r>
          </a:p>
        </p:txBody>
      </p:sp>
      <p:sp>
        <p:nvSpPr>
          <p:cNvPr id="26" name="TextBox 26"/>
          <p:cNvSpPr txBox="1"/>
          <p:nvPr/>
        </p:nvSpPr>
        <p:spPr>
          <a:xfrm>
            <a:off x="11898530" y="441474"/>
            <a:ext cx="809760" cy="19797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680"/>
              </a:lnSpc>
              <a:spcBef>
                <a:spcPct val="0"/>
              </a:spcBef>
            </a:pPr>
            <a:r>
              <a:rPr lang="en-US" sz="1200">
                <a:solidFill>
                  <a:srgbClr val="1F2020"/>
                </a:solidFill>
                <a:latin typeface="Open Sans"/>
                <a:ea typeface="Open Sans"/>
                <a:cs typeface="Open Sans"/>
                <a:sym typeface="Open Sans"/>
              </a:rPr>
              <a:t>Home</a:t>
            </a:r>
          </a:p>
        </p:txBody>
      </p:sp>
      <p:sp>
        <p:nvSpPr>
          <p:cNvPr id="27" name="TextBox 27"/>
          <p:cNvSpPr txBox="1"/>
          <p:nvPr/>
        </p:nvSpPr>
        <p:spPr>
          <a:xfrm>
            <a:off x="17499918" y="9638067"/>
            <a:ext cx="547464" cy="24059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960"/>
              </a:lnSpc>
              <a:spcBef>
                <a:spcPct val="0"/>
              </a:spcBef>
            </a:pPr>
            <a:r>
              <a:rPr lang="en-US" sz="1400" b="1">
                <a:solidFill>
                  <a:srgbClr val="FFFFFF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03</a:t>
            </a:r>
          </a:p>
        </p:txBody>
      </p:sp>
      <p:sp>
        <p:nvSpPr>
          <p:cNvPr id="28" name="TextBox 28"/>
          <p:cNvSpPr txBox="1"/>
          <p:nvPr/>
        </p:nvSpPr>
        <p:spPr>
          <a:xfrm>
            <a:off x="1028700" y="1106605"/>
            <a:ext cx="16230600" cy="87757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6709"/>
              </a:lnSpc>
            </a:pPr>
            <a:r>
              <a:rPr lang="en-US" sz="6099" b="1">
                <a:solidFill>
                  <a:srgbClr val="02CDFF"/>
                </a:solidFill>
                <a:latin typeface="Barlow Condensed Bold"/>
                <a:ea typeface="Barlow Condensed Bold"/>
                <a:cs typeface="Barlow Condensed Bold"/>
                <a:sym typeface="Barlow Condensed Bold"/>
              </a:rPr>
              <a:t>Ketentuan &amp; Jenis Projek Deep Learning</a:t>
            </a:r>
          </a:p>
        </p:txBody>
      </p:sp>
      <p:sp>
        <p:nvSpPr>
          <p:cNvPr id="29" name="TextBox 29"/>
          <p:cNvSpPr txBox="1"/>
          <p:nvPr/>
        </p:nvSpPr>
        <p:spPr>
          <a:xfrm>
            <a:off x="1563576" y="4694612"/>
            <a:ext cx="6608403" cy="159893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219"/>
              </a:lnSpc>
              <a:spcBef>
                <a:spcPct val="0"/>
              </a:spcBef>
            </a:pPr>
            <a:r>
              <a:rPr lang="en-US" sz="2299" b="1">
                <a:solidFill>
                  <a:srgbClr val="000000"/>
                </a:solidFill>
                <a:latin typeface="Poppins Bold"/>
                <a:ea typeface="Poppins Bold"/>
                <a:cs typeface="Poppins Bold"/>
                <a:sym typeface="Poppins Bold"/>
              </a:rPr>
              <a:t>Fokus:</a:t>
            </a:r>
            <a:r>
              <a:rPr lang="en-US" sz="2299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 Menganalisis dan mengekstrak informasi dari data visual.</a:t>
            </a:r>
          </a:p>
          <a:p>
            <a:pPr algn="ctr">
              <a:lnSpc>
                <a:spcPts val="3219"/>
              </a:lnSpc>
              <a:spcBef>
                <a:spcPct val="0"/>
              </a:spcBef>
            </a:pPr>
            <a:r>
              <a:rPr lang="en-US" sz="2299" b="1">
                <a:solidFill>
                  <a:srgbClr val="000000"/>
                </a:solidFill>
                <a:latin typeface="Poppins Bold"/>
                <a:ea typeface="Poppins Bold"/>
                <a:cs typeface="Poppins Bold"/>
                <a:sym typeface="Poppins Bold"/>
              </a:rPr>
              <a:t>Input: </a:t>
            </a:r>
            <a:r>
              <a:rPr lang="en-US" sz="2299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Gambar (Image) atau Video.</a:t>
            </a:r>
          </a:p>
          <a:p>
            <a:pPr algn="ctr">
              <a:lnSpc>
                <a:spcPts val="3219"/>
              </a:lnSpc>
              <a:spcBef>
                <a:spcPct val="0"/>
              </a:spcBef>
            </a:pPr>
            <a:endParaRPr lang="en-US" sz="2299">
              <a:solidFill>
                <a:srgbClr val="000000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30" name="TextBox 30"/>
          <p:cNvSpPr txBox="1"/>
          <p:nvPr/>
        </p:nvSpPr>
        <p:spPr>
          <a:xfrm>
            <a:off x="4131274" y="2951480"/>
            <a:ext cx="4276165" cy="153543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5939"/>
              </a:lnSpc>
            </a:pPr>
            <a:r>
              <a:rPr lang="en-US" sz="5399" b="1">
                <a:solidFill>
                  <a:srgbClr val="02CDFF"/>
                </a:solidFill>
                <a:latin typeface="Barlow Condensed Bold"/>
                <a:ea typeface="Barlow Condensed Bold"/>
                <a:cs typeface="Barlow Condensed Bold"/>
                <a:sym typeface="Barlow Condensed Bold"/>
              </a:rPr>
              <a:t>Computer Vision</a:t>
            </a:r>
          </a:p>
          <a:p>
            <a:pPr algn="l">
              <a:lnSpc>
                <a:spcPts val="5939"/>
              </a:lnSpc>
            </a:pPr>
            <a:r>
              <a:rPr lang="en-US" sz="5399" b="1">
                <a:solidFill>
                  <a:srgbClr val="02CDFF"/>
                </a:solidFill>
                <a:latin typeface="Barlow Condensed Bold"/>
                <a:ea typeface="Barlow Condensed Bold"/>
                <a:cs typeface="Barlow Condensed Bold"/>
                <a:sym typeface="Barlow Condensed Bold"/>
              </a:rPr>
              <a:t>(CV)</a:t>
            </a:r>
          </a:p>
        </p:txBody>
      </p:sp>
      <p:sp>
        <p:nvSpPr>
          <p:cNvPr id="31" name="TextBox 31"/>
          <p:cNvSpPr txBox="1"/>
          <p:nvPr/>
        </p:nvSpPr>
        <p:spPr>
          <a:xfrm>
            <a:off x="1376635" y="6382457"/>
            <a:ext cx="2574667" cy="39878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219"/>
              </a:lnSpc>
              <a:spcBef>
                <a:spcPct val="0"/>
              </a:spcBef>
            </a:pPr>
            <a:r>
              <a:rPr lang="en-US" sz="2299" b="1">
                <a:solidFill>
                  <a:srgbClr val="000000"/>
                </a:solidFill>
                <a:latin typeface="Poppins Bold"/>
                <a:ea typeface="Poppins Bold"/>
                <a:cs typeface="Poppins Bold"/>
                <a:sym typeface="Poppins Bold"/>
              </a:rPr>
              <a:t>Contoh Projek:</a:t>
            </a:r>
          </a:p>
        </p:txBody>
      </p:sp>
      <p:sp>
        <p:nvSpPr>
          <p:cNvPr id="32" name="TextBox 32"/>
          <p:cNvSpPr txBox="1"/>
          <p:nvPr/>
        </p:nvSpPr>
        <p:spPr>
          <a:xfrm>
            <a:off x="1248850" y="6873298"/>
            <a:ext cx="7158589" cy="17557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539746" lvl="1" indent="-269873" algn="l">
              <a:lnSpc>
                <a:spcPts val="3499"/>
              </a:lnSpc>
              <a:buAutoNum type="arabicPeriod"/>
            </a:pPr>
            <a:r>
              <a:rPr lang="en-US" sz="2499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Klasifikasi Citra (Deteksi Penyakit Daun)</a:t>
            </a:r>
          </a:p>
          <a:p>
            <a:pPr marL="539746" lvl="1" indent="-269873" algn="l">
              <a:lnSpc>
                <a:spcPts val="3499"/>
              </a:lnSpc>
              <a:buAutoNum type="arabicPeriod"/>
            </a:pPr>
            <a:r>
              <a:rPr lang="en-US" sz="2499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Deteksi Objek (Plat Nomor Kendaraan)</a:t>
            </a:r>
          </a:p>
          <a:p>
            <a:pPr marL="539746" lvl="1" indent="-269873" algn="l">
              <a:lnSpc>
                <a:spcPts val="3499"/>
              </a:lnSpc>
              <a:buAutoNum type="arabicPeriod"/>
            </a:pPr>
            <a:r>
              <a:rPr lang="en-US" sz="2499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Pengenalan Wajah (Face Recognition)</a:t>
            </a:r>
          </a:p>
          <a:p>
            <a:pPr marL="539746" lvl="1" indent="-269873" algn="l">
              <a:lnSpc>
                <a:spcPts val="3499"/>
              </a:lnSpc>
              <a:buAutoNum type="arabicPeriod"/>
            </a:pPr>
            <a:r>
              <a:rPr lang="en-US" sz="2499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Segmentasi Gambar Medis (X-Ray/MRI)</a:t>
            </a:r>
          </a:p>
        </p:txBody>
      </p:sp>
      <p:sp>
        <p:nvSpPr>
          <p:cNvPr id="33" name="TextBox 33"/>
          <p:cNvSpPr txBox="1"/>
          <p:nvPr/>
        </p:nvSpPr>
        <p:spPr>
          <a:xfrm>
            <a:off x="10087700" y="4694612"/>
            <a:ext cx="6868634" cy="119888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219"/>
              </a:lnSpc>
              <a:spcBef>
                <a:spcPct val="0"/>
              </a:spcBef>
            </a:pPr>
            <a:r>
              <a:rPr lang="en-US" sz="2299" b="1">
                <a:solidFill>
                  <a:srgbClr val="000000"/>
                </a:solidFill>
                <a:latin typeface="Poppins Bold"/>
                <a:ea typeface="Poppins Bold"/>
                <a:cs typeface="Poppins Bold"/>
                <a:sym typeface="Poppins Bold"/>
              </a:rPr>
              <a:t>Fokus: </a:t>
            </a:r>
            <a:r>
              <a:rPr lang="en-US" sz="2299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Memproses, memahami, dan memodelkan bahasa manusia.</a:t>
            </a:r>
          </a:p>
          <a:p>
            <a:pPr algn="ctr">
              <a:lnSpc>
                <a:spcPts val="3219"/>
              </a:lnSpc>
              <a:spcBef>
                <a:spcPct val="0"/>
              </a:spcBef>
            </a:pPr>
            <a:r>
              <a:rPr lang="en-US" sz="2299" b="1">
                <a:solidFill>
                  <a:srgbClr val="000000"/>
                </a:solidFill>
                <a:latin typeface="Poppins Bold"/>
                <a:ea typeface="Poppins Bold"/>
                <a:cs typeface="Poppins Bold"/>
                <a:sym typeface="Poppins Bold"/>
              </a:rPr>
              <a:t>Input:</a:t>
            </a:r>
            <a:r>
              <a:rPr lang="en-US" sz="2299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 Teks dokumen atau Suara (Audio).</a:t>
            </a:r>
          </a:p>
        </p:txBody>
      </p:sp>
      <p:sp>
        <p:nvSpPr>
          <p:cNvPr id="34" name="TextBox 34"/>
          <p:cNvSpPr txBox="1"/>
          <p:nvPr/>
        </p:nvSpPr>
        <p:spPr>
          <a:xfrm>
            <a:off x="12303410" y="2951480"/>
            <a:ext cx="4522809" cy="137668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5389"/>
              </a:lnSpc>
            </a:pPr>
            <a:r>
              <a:rPr lang="en-US" sz="4899" b="1">
                <a:solidFill>
                  <a:srgbClr val="02CDFF"/>
                </a:solidFill>
                <a:latin typeface="Barlow Condensed Bold"/>
                <a:ea typeface="Barlow Condensed Bold"/>
                <a:cs typeface="Barlow Condensed Bold"/>
                <a:sym typeface="Barlow Condensed Bold"/>
              </a:rPr>
              <a:t>Natural Language Processing (NLP)</a:t>
            </a:r>
          </a:p>
        </p:txBody>
      </p:sp>
      <p:sp>
        <p:nvSpPr>
          <p:cNvPr id="35" name="TextBox 35"/>
          <p:cNvSpPr txBox="1"/>
          <p:nvPr/>
        </p:nvSpPr>
        <p:spPr>
          <a:xfrm>
            <a:off x="10087700" y="6357078"/>
            <a:ext cx="2574667" cy="39878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219"/>
              </a:lnSpc>
              <a:spcBef>
                <a:spcPct val="0"/>
              </a:spcBef>
            </a:pPr>
            <a:r>
              <a:rPr lang="en-US" sz="2299" b="1">
                <a:solidFill>
                  <a:srgbClr val="000000"/>
                </a:solidFill>
                <a:latin typeface="Poppins Bold"/>
                <a:ea typeface="Poppins Bold"/>
                <a:cs typeface="Poppins Bold"/>
                <a:sym typeface="Poppins Bold"/>
              </a:rPr>
              <a:t>Contoh Projek:</a:t>
            </a:r>
          </a:p>
        </p:txBody>
      </p:sp>
      <p:sp>
        <p:nvSpPr>
          <p:cNvPr id="36" name="TextBox 36"/>
          <p:cNvSpPr txBox="1"/>
          <p:nvPr/>
        </p:nvSpPr>
        <p:spPr>
          <a:xfrm>
            <a:off x="10087700" y="6873298"/>
            <a:ext cx="7161192" cy="21939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539746" lvl="1" indent="-269873" algn="l">
              <a:lnSpc>
                <a:spcPts val="3499"/>
              </a:lnSpc>
              <a:buAutoNum type="arabicPeriod"/>
            </a:pPr>
            <a:r>
              <a:rPr lang="en-US" sz="2499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Analisis Sentimen (Review Produk/Film)</a:t>
            </a:r>
          </a:p>
          <a:p>
            <a:pPr marL="539746" lvl="1" indent="-269873" algn="l">
              <a:lnSpc>
                <a:spcPts val="3499"/>
              </a:lnSpc>
              <a:buAutoNum type="arabicPeriod"/>
            </a:pPr>
            <a:r>
              <a:rPr lang="en-US" sz="2499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Chatbot Cerdas berbasis Teks</a:t>
            </a:r>
          </a:p>
          <a:p>
            <a:pPr marL="539746" lvl="1" indent="-269873" algn="l">
              <a:lnSpc>
                <a:spcPts val="3499"/>
              </a:lnSpc>
              <a:buAutoNum type="arabicPeriod"/>
            </a:pPr>
            <a:r>
              <a:rPr lang="en-US" sz="2499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Penerjemah Bahasa Mesin (Translation)</a:t>
            </a:r>
          </a:p>
          <a:p>
            <a:pPr marL="539746" lvl="1" indent="-269873" algn="l">
              <a:lnSpc>
                <a:spcPts val="3499"/>
              </a:lnSpc>
              <a:buAutoNum type="arabicPeriod"/>
            </a:pPr>
            <a:r>
              <a:rPr lang="en-US" sz="2499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Peringkasan Dokumen Otomatis (Summarization)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17749838" y="7527480"/>
            <a:ext cx="47625" cy="1740345"/>
            <a:chOff x="0" y="0"/>
            <a:chExt cx="12543" cy="458362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12543" cy="458362"/>
            </a:xfrm>
            <a:custGeom>
              <a:avLst/>
              <a:gdLst/>
              <a:ahLst/>
              <a:cxnLst/>
              <a:rect l="l" t="t" r="r" b="b"/>
              <a:pathLst>
                <a:path w="12543" h="458362">
                  <a:moveTo>
                    <a:pt x="0" y="0"/>
                  </a:moveTo>
                  <a:lnTo>
                    <a:pt x="12543" y="0"/>
                  </a:lnTo>
                  <a:lnTo>
                    <a:pt x="12543" y="458362"/>
                  </a:lnTo>
                  <a:lnTo>
                    <a:pt x="0" y="458362"/>
                  </a:lnTo>
                  <a:close/>
                </a:path>
              </a:pathLst>
            </a:custGeom>
            <a:gradFill rotWithShape="1">
              <a:gsLst>
                <a:gs pos="0">
                  <a:srgbClr val="45D0FC">
                    <a:alpha val="100000"/>
                  </a:srgbClr>
                </a:gs>
                <a:gs pos="100000">
                  <a:srgbClr val="085DA0">
                    <a:alpha val="100000"/>
                  </a:srgbClr>
                </a:gs>
              </a:gsLst>
              <a:lin ang="2700000"/>
            </a:gradFill>
          </p:spPr>
        </p:sp>
        <p:sp>
          <p:nvSpPr>
            <p:cNvPr id="4" name="TextBox 4"/>
            <p:cNvSpPr txBox="1"/>
            <p:nvPr/>
          </p:nvSpPr>
          <p:spPr>
            <a:xfrm>
              <a:off x="0" y="-38100"/>
              <a:ext cx="12543" cy="496462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sp>
        <p:nvSpPr>
          <p:cNvPr id="5" name="Freeform 5"/>
          <p:cNvSpPr/>
          <p:nvPr/>
        </p:nvSpPr>
        <p:spPr>
          <a:xfrm>
            <a:off x="473588" y="377888"/>
            <a:ext cx="369285" cy="363243"/>
          </a:xfrm>
          <a:custGeom>
            <a:avLst/>
            <a:gdLst/>
            <a:ahLst/>
            <a:cxnLst/>
            <a:rect l="l" t="t" r="r" b="b"/>
            <a:pathLst>
              <a:path w="369285" h="363243">
                <a:moveTo>
                  <a:pt x="0" y="0"/>
                </a:moveTo>
                <a:lnTo>
                  <a:pt x="369285" y="0"/>
                </a:lnTo>
                <a:lnTo>
                  <a:pt x="369285" y="363242"/>
                </a:lnTo>
                <a:lnTo>
                  <a:pt x="0" y="363242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</p:sp>
      <p:grpSp>
        <p:nvGrpSpPr>
          <p:cNvPr id="6" name="Group 6"/>
          <p:cNvGrpSpPr/>
          <p:nvPr/>
        </p:nvGrpSpPr>
        <p:grpSpPr>
          <a:xfrm>
            <a:off x="17259300" y="0"/>
            <a:ext cx="1028700" cy="1028700"/>
            <a:chOff x="0" y="0"/>
            <a:chExt cx="270933" cy="270933"/>
          </a:xfrm>
        </p:grpSpPr>
        <p:sp>
          <p:nvSpPr>
            <p:cNvPr id="7" name="Freeform 7"/>
            <p:cNvSpPr/>
            <p:nvPr/>
          </p:nvSpPr>
          <p:spPr>
            <a:xfrm>
              <a:off x="0" y="0"/>
              <a:ext cx="270933" cy="270933"/>
            </a:xfrm>
            <a:custGeom>
              <a:avLst/>
              <a:gdLst/>
              <a:ahLst/>
              <a:cxnLst/>
              <a:rect l="l" t="t" r="r" b="b"/>
              <a:pathLst>
                <a:path w="270933" h="270933">
                  <a:moveTo>
                    <a:pt x="0" y="0"/>
                  </a:moveTo>
                  <a:lnTo>
                    <a:pt x="270933" y="0"/>
                  </a:lnTo>
                  <a:lnTo>
                    <a:pt x="270933" y="270933"/>
                  </a:lnTo>
                  <a:lnTo>
                    <a:pt x="0" y="270933"/>
                  </a:lnTo>
                  <a:close/>
                </a:path>
              </a:pathLst>
            </a:custGeom>
            <a:gradFill rotWithShape="1">
              <a:gsLst>
                <a:gs pos="0">
                  <a:srgbClr val="45D0FC">
                    <a:alpha val="100000"/>
                  </a:srgbClr>
                </a:gs>
                <a:gs pos="100000">
                  <a:srgbClr val="085DA0">
                    <a:alpha val="100000"/>
                  </a:srgbClr>
                </a:gs>
              </a:gsLst>
              <a:lin ang="2700000"/>
            </a:gradFill>
          </p:spPr>
        </p:sp>
        <p:sp>
          <p:nvSpPr>
            <p:cNvPr id="8" name="TextBox 8"/>
            <p:cNvSpPr txBox="1"/>
            <p:nvPr/>
          </p:nvSpPr>
          <p:spPr>
            <a:xfrm>
              <a:off x="0" y="-38100"/>
              <a:ext cx="270933" cy="30903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grpSp>
        <p:nvGrpSpPr>
          <p:cNvPr id="9" name="Group 9"/>
          <p:cNvGrpSpPr/>
          <p:nvPr/>
        </p:nvGrpSpPr>
        <p:grpSpPr>
          <a:xfrm>
            <a:off x="17259300" y="9258300"/>
            <a:ext cx="1028700" cy="1028700"/>
            <a:chOff x="0" y="0"/>
            <a:chExt cx="270933" cy="270933"/>
          </a:xfrm>
        </p:grpSpPr>
        <p:sp>
          <p:nvSpPr>
            <p:cNvPr id="10" name="Freeform 10"/>
            <p:cNvSpPr/>
            <p:nvPr/>
          </p:nvSpPr>
          <p:spPr>
            <a:xfrm>
              <a:off x="0" y="0"/>
              <a:ext cx="270933" cy="270933"/>
            </a:xfrm>
            <a:custGeom>
              <a:avLst/>
              <a:gdLst/>
              <a:ahLst/>
              <a:cxnLst/>
              <a:rect l="l" t="t" r="r" b="b"/>
              <a:pathLst>
                <a:path w="270933" h="270933">
                  <a:moveTo>
                    <a:pt x="0" y="0"/>
                  </a:moveTo>
                  <a:lnTo>
                    <a:pt x="270933" y="0"/>
                  </a:lnTo>
                  <a:lnTo>
                    <a:pt x="270933" y="270933"/>
                  </a:lnTo>
                  <a:lnTo>
                    <a:pt x="0" y="270933"/>
                  </a:lnTo>
                  <a:close/>
                </a:path>
              </a:pathLst>
            </a:custGeom>
            <a:gradFill rotWithShape="1">
              <a:gsLst>
                <a:gs pos="0">
                  <a:srgbClr val="45D0FC">
                    <a:alpha val="100000"/>
                  </a:srgbClr>
                </a:gs>
                <a:gs pos="100000">
                  <a:srgbClr val="085DA0">
                    <a:alpha val="100000"/>
                  </a:srgbClr>
                </a:gs>
              </a:gsLst>
              <a:lin ang="2700000"/>
            </a:gradFill>
          </p:spPr>
        </p:sp>
        <p:sp>
          <p:nvSpPr>
            <p:cNvPr id="11" name="TextBox 11"/>
            <p:cNvSpPr txBox="1"/>
            <p:nvPr/>
          </p:nvSpPr>
          <p:spPr>
            <a:xfrm>
              <a:off x="0" y="-38100"/>
              <a:ext cx="270933" cy="30903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grpSp>
        <p:nvGrpSpPr>
          <p:cNvPr id="12" name="Group 12"/>
          <p:cNvGrpSpPr/>
          <p:nvPr/>
        </p:nvGrpSpPr>
        <p:grpSpPr>
          <a:xfrm>
            <a:off x="1269257" y="3196471"/>
            <a:ext cx="6928726" cy="1947029"/>
            <a:chOff x="0" y="0"/>
            <a:chExt cx="1824850" cy="512798"/>
          </a:xfrm>
          <a:effectLst>
            <a:glow rad="101600">
              <a:schemeClr val="tx1">
                <a:alpha val="60000"/>
              </a:schemeClr>
            </a:glow>
          </a:effectLst>
        </p:grpSpPr>
        <p:sp>
          <p:nvSpPr>
            <p:cNvPr id="13" name="Freeform 13"/>
            <p:cNvSpPr/>
            <p:nvPr/>
          </p:nvSpPr>
          <p:spPr>
            <a:xfrm>
              <a:off x="0" y="0"/>
              <a:ext cx="1824850" cy="512798"/>
            </a:xfrm>
            <a:custGeom>
              <a:avLst/>
              <a:gdLst/>
              <a:ahLst/>
              <a:cxnLst/>
              <a:rect l="l" t="t" r="r" b="b"/>
              <a:pathLst>
                <a:path w="1824850" h="512798">
                  <a:moveTo>
                    <a:pt x="27934" y="0"/>
                  </a:moveTo>
                  <a:lnTo>
                    <a:pt x="1796916" y="0"/>
                  </a:lnTo>
                  <a:cubicBezTo>
                    <a:pt x="1812343" y="0"/>
                    <a:pt x="1824850" y="12507"/>
                    <a:pt x="1824850" y="27934"/>
                  </a:cubicBezTo>
                  <a:lnTo>
                    <a:pt x="1824850" y="484863"/>
                  </a:lnTo>
                  <a:cubicBezTo>
                    <a:pt x="1824850" y="492272"/>
                    <a:pt x="1821907" y="499377"/>
                    <a:pt x="1816668" y="504616"/>
                  </a:cubicBezTo>
                  <a:cubicBezTo>
                    <a:pt x="1811429" y="509855"/>
                    <a:pt x="1804324" y="512798"/>
                    <a:pt x="1796916" y="512798"/>
                  </a:cubicBezTo>
                  <a:lnTo>
                    <a:pt x="27934" y="512798"/>
                  </a:lnTo>
                  <a:cubicBezTo>
                    <a:pt x="20526" y="512798"/>
                    <a:pt x="13420" y="509855"/>
                    <a:pt x="8182" y="504616"/>
                  </a:cubicBezTo>
                  <a:cubicBezTo>
                    <a:pt x="2943" y="499377"/>
                    <a:pt x="0" y="492272"/>
                    <a:pt x="0" y="484863"/>
                  </a:cubicBezTo>
                  <a:lnTo>
                    <a:pt x="0" y="27934"/>
                  </a:lnTo>
                  <a:cubicBezTo>
                    <a:pt x="0" y="20526"/>
                    <a:pt x="2943" y="13420"/>
                    <a:pt x="8182" y="8182"/>
                  </a:cubicBezTo>
                  <a:cubicBezTo>
                    <a:pt x="13420" y="2943"/>
                    <a:pt x="20526" y="0"/>
                    <a:pt x="27934" y="0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id="14" name="TextBox 14"/>
            <p:cNvSpPr txBox="1"/>
            <p:nvPr/>
          </p:nvSpPr>
          <p:spPr>
            <a:xfrm>
              <a:off x="0" y="-38100"/>
              <a:ext cx="1824850" cy="550898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15" name="Freeform 15"/>
          <p:cNvSpPr/>
          <p:nvPr/>
        </p:nvSpPr>
        <p:spPr>
          <a:xfrm>
            <a:off x="7464502" y="3453073"/>
            <a:ext cx="558731" cy="558731"/>
          </a:xfrm>
          <a:custGeom>
            <a:avLst/>
            <a:gdLst/>
            <a:ahLst/>
            <a:cxnLst/>
            <a:rect l="l" t="t" r="r" b="b"/>
            <a:pathLst>
              <a:path w="558731" h="558731">
                <a:moveTo>
                  <a:pt x="0" y="0"/>
                </a:moveTo>
                <a:lnTo>
                  <a:pt x="558732" y="0"/>
                </a:lnTo>
                <a:lnTo>
                  <a:pt x="558732" y="558731"/>
                </a:lnTo>
                <a:lnTo>
                  <a:pt x="0" y="558731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grpSp>
        <p:nvGrpSpPr>
          <p:cNvPr id="16" name="Group 16"/>
          <p:cNvGrpSpPr/>
          <p:nvPr/>
        </p:nvGrpSpPr>
        <p:grpSpPr>
          <a:xfrm>
            <a:off x="1279665" y="5362575"/>
            <a:ext cx="6928726" cy="1947029"/>
            <a:chOff x="0" y="0"/>
            <a:chExt cx="1824850" cy="512798"/>
          </a:xfrm>
          <a:effectLst>
            <a:glow rad="101600">
              <a:schemeClr val="tx1">
                <a:alpha val="60000"/>
              </a:schemeClr>
            </a:glow>
          </a:effectLst>
        </p:grpSpPr>
        <p:sp>
          <p:nvSpPr>
            <p:cNvPr id="17" name="Freeform 17"/>
            <p:cNvSpPr/>
            <p:nvPr/>
          </p:nvSpPr>
          <p:spPr>
            <a:xfrm>
              <a:off x="0" y="0"/>
              <a:ext cx="1824850" cy="512798"/>
            </a:xfrm>
            <a:custGeom>
              <a:avLst/>
              <a:gdLst/>
              <a:ahLst/>
              <a:cxnLst/>
              <a:rect l="l" t="t" r="r" b="b"/>
              <a:pathLst>
                <a:path w="1824850" h="512798">
                  <a:moveTo>
                    <a:pt x="27934" y="0"/>
                  </a:moveTo>
                  <a:lnTo>
                    <a:pt x="1796916" y="0"/>
                  </a:lnTo>
                  <a:cubicBezTo>
                    <a:pt x="1812343" y="0"/>
                    <a:pt x="1824850" y="12507"/>
                    <a:pt x="1824850" y="27934"/>
                  </a:cubicBezTo>
                  <a:lnTo>
                    <a:pt x="1824850" y="484863"/>
                  </a:lnTo>
                  <a:cubicBezTo>
                    <a:pt x="1824850" y="492272"/>
                    <a:pt x="1821907" y="499377"/>
                    <a:pt x="1816668" y="504616"/>
                  </a:cubicBezTo>
                  <a:cubicBezTo>
                    <a:pt x="1811429" y="509855"/>
                    <a:pt x="1804324" y="512798"/>
                    <a:pt x="1796916" y="512798"/>
                  </a:cubicBezTo>
                  <a:lnTo>
                    <a:pt x="27934" y="512798"/>
                  </a:lnTo>
                  <a:cubicBezTo>
                    <a:pt x="20526" y="512798"/>
                    <a:pt x="13420" y="509855"/>
                    <a:pt x="8182" y="504616"/>
                  </a:cubicBezTo>
                  <a:cubicBezTo>
                    <a:pt x="2943" y="499377"/>
                    <a:pt x="0" y="492272"/>
                    <a:pt x="0" y="484863"/>
                  </a:cubicBezTo>
                  <a:lnTo>
                    <a:pt x="0" y="27934"/>
                  </a:lnTo>
                  <a:cubicBezTo>
                    <a:pt x="0" y="20526"/>
                    <a:pt x="2943" y="13420"/>
                    <a:pt x="8182" y="8182"/>
                  </a:cubicBezTo>
                  <a:cubicBezTo>
                    <a:pt x="13420" y="2943"/>
                    <a:pt x="20526" y="0"/>
                    <a:pt x="27934" y="0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id="18" name="TextBox 18"/>
            <p:cNvSpPr txBox="1"/>
            <p:nvPr/>
          </p:nvSpPr>
          <p:spPr>
            <a:xfrm>
              <a:off x="0" y="-38100"/>
              <a:ext cx="1824850" cy="550898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grpSp>
        <p:nvGrpSpPr>
          <p:cNvPr id="19" name="Group 19"/>
          <p:cNvGrpSpPr/>
          <p:nvPr/>
        </p:nvGrpSpPr>
        <p:grpSpPr>
          <a:xfrm>
            <a:off x="1279665" y="7528679"/>
            <a:ext cx="6928726" cy="1947029"/>
            <a:chOff x="0" y="0"/>
            <a:chExt cx="1824850" cy="512798"/>
          </a:xfrm>
          <a:effectLst>
            <a:glow rad="101600">
              <a:schemeClr val="tx1">
                <a:alpha val="60000"/>
              </a:schemeClr>
            </a:glow>
          </a:effectLst>
        </p:grpSpPr>
        <p:sp>
          <p:nvSpPr>
            <p:cNvPr id="20" name="Freeform 20"/>
            <p:cNvSpPr/>
            <p:nvPr/>
          </p:nvSpPr>
          <p:spPr>
            <a:xfrm>
              <a:off x="0" y="0"/>
              <a:ext cx="1824850" cy="512798"/>
            </a:xfrm>
            <a:custGeom>
              <a:avLst/>
              <a:gdLst/>
              <a:ahLst/>
              <a:cxnLst/>
              <a:rect l="l" t="t" r="r" b="b"/>
              <a:pathLst>
                <a:path w="1824850" h="512798">
                  <a:moveTo>
                    <a:pt x="27934" y="0"/>
                  </a:moveTo>
                  <a:lnTo>
                    <a:pt x="1796916" y="0"/>
                  </a:lnTo>
                  <a:cubicBezTo>
                    <a:pt x="1812343" y="0"/>
                    <a:pt x="1824850" y="12507"/>
                    <a:pt x="1824850" y="27934"/>
                  </a:cubicBezTo>
                  <a:lnTo>
                    <a:pt x="1824850" y="484863"/>
                  </a:lnTo>
                  <a:cubicBezTo>
                    <a:pt x="1824850" y="492272"/>
                    <a:pt x="1821907" y="499377"/>
                    <a:pt x="1816668" y="504616"/>
                  </a:cubicBezTo>
                  <a:cubicBezTo>
                    <a:pt x="1811429" y="509855"/>
                    <a:pt x="1804324" y="512798"/>
                    <a:pt x="1796916" y="512798"/>
                  </a:cubicBezTo>
                  <a:lnTo>
                    <a:pt x="27934" y="512798"/>
                  </a:lnTo>
                  <a:cubicBezTo>
                    <a:pt x="20526" y="512798"/>
                    <a:pt x="13420" y="509855"/>
                    <a:pt x="8182" y="504616"/>
                  </a:cubicBezTo>
                  <a:cubicBezTo>
                    <a:pt x="2943" y="499377"/>
                    <a:pt x="0" y="492272"/>
                    <a:pt x="0" y="484863"/>
                  </a:cubicBezTo>
                  <a:lnTo>
                    <a:pt x="0" y="27934"/>
                  </a:lnTo>
                  <a:cubicBezTo>
                    <a:pt x="0" y="20526"/>
                    <a:pt x="2943" y="13420"/>
                    <a:pt x="8182" y="8182"/>
                  </a:cubicBezTo>
                  <a:cubicBezTo>
                    <a:pt x="13420" y="2943"/>
                    <a:pt x="20526" y="0"/>
                    <a:pt x="27934" y="0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id="21" name="TextBox 21"/>
            <p:cNvSpPr txBox="1"/>
            <p:nvPr/>
          </p:nvSpPr>
          <p:spPr>
            <a:xfrm>
              <a:off x="0" y="-38100"/>
              <a:ext cx="1824850" cy="550898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grpSp>
        <p:nvGrpSpPr>
          <p:cNvPr id="22" name="Group 22"/>
          <p:cNvGrpSpPr/>
          <p:nvPr/>
        </p:nvGrpSpPr>
        <p:grpSpPr>
          <a:xfrm>
            <a:off x="9741903" y="3196471"/>
            <a:ext cx="6928726" cy="1947029"/>
            <a:chOff x="0" y="0"/>
            <a:chExt cx="1824850" cy="512798"/>
          </a:xfrm>
          <a:effectLst>
            <a:glow rad="101600">
              <a:schemeClr val="tx1">
                <a:alpha val="60000"/>
              </a:schemeClr>
            </a:glow>
          </a:effectLst>
        </p:grpSpPr>
        <p:sp>
          <p:nvSpPr>
            <p:cNvPr id="23" name="Freeform 23"/>
            <p:cNvSpPr/>
            <p:nvPr/>
          </p:nvSpPr>
          <p:spPr>
            <a:xfrm>
              <a:off x="0" y="0"/>
              <a:ext cx="1824850" cy="512798"/>
            </a:xfrm>
            <a:custGeom>
              <a:avLst/>
              <a:gdLst/>
              <a:ahLst/>
              <a:cxnLst/>
              <a:rect l="l" t="t" r="r" b="b"/>
              <a:pathLst>
                <a:path w="1824850" h="512798">
                  <a:moveTo>
                    <a:pt x="27934" y="0"/>
                  </a:moveTo>
                  <a:lnTo>
                    <a:pt x="1796916" y="0"/>
                  </a:lnTo>
                  <a:cubicBezTo>
                    <a:pt x="1812343" y="0"/>
                    <a:pt x="1824850" y="12507"/>
                    <a:pt x="1824850" y="27934"/>
                  </a:cubicBezTo>
                  <a:lnTo>
                    <a:pt x="1824850" y="484863"/>
                  </a:lnTo>
                  <a:cubicBezTo>
                    <a:pt x="1824850" y="492272"/>
                    <a:pt x="1821907" y="499377"/>
                    <a:pt x="1816668" y="504616"/>
                  </a:cubicBezTo>
                  <a:cubicBezTo>
                    <a:pt x="1811429" y="509855"/>
                    <a:pt x="1804324" y="512798"/>
                    <a:pt x="1796916" y="512798"/>
                  </a:cubicBezTo>
                  <a:lnTo>
                    <a:pt x="27934" y="512798"/>
                  </a:lnTo>
                  <a:cubicBezTo>
                    <a:pt x="20526" y="512798"/>
                    <a:pt x="13420" y="509855"/>
                    <a:pt x="8182" y="504616"/>
                  </a:cubicBezTo>
                  <a:cubicBezTo>
                    <a:pt x="2943" y="499377"/>
                    <a:pt x="0" y="492272"/>
                    <a:pt x="0" y="484863"/>
                  </a:cubicBezTo>
                  <a:lnTo>
                    <a:pt x="0" y="27934"/>
                  </a:lnTo>
                  <a:cubicBezTo>
                    <a:pt x="0" y="20526"/>
                    <a:pt x="2943" y="13420"/>
                    <a:pt x="8182" y="8182"/>
                  </a:cubicBezTo>
                  <a:cubicBezTo>
                    <a:pt x="13420" y="2943"/>
                    <a:pt x="20526" y="0"/>
                    <a:pt x="27934" y="0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id="24" name="TextBox 24"/>
            <p:cNvSpPr txBox="1"/>
            <p:nvPr/>
          </p:nvSpPr>
          <p:spPr>
            <a:xfrm>
              <a:off x="0" y="-38100"/>
              <a:ext cx="1824850" cy="550898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grpSp>
        <p:nvGrpSpPr>
          <p:cNvPr id="25" name="Group 25"/>
          <p:cNvGrpSpPr/>
          <p:nvPr/>
        </p:nvGrpSpPr>
        <p:grpSpPr>
          <a:xfrm>
            <a:off x="9741903" y="5362575"/>
            <a:ext cx="6928726" cy="1947029"/>
            <a:chOff x="0" y="0"/>
            <a:chExt cx="1824850" cy="512798"/>
          </a:xfrm>
          <a:effectLst>
            <a:glow rad="101600">
              <a:schemeClr val="tx1">
                <a:alpha val="60000"/>
              </a:schemeClr>
            </a:glow>
          </a:effectLst>
        </p:grpSpPr>
        <p:sp>
          <p:nvSpPr>
            <p:cNvPr id="26" name="Freeform 26"/>
            <p:cNvSpPr/>
            <p:nvPr/>
          </p:nvSpPr>
          <p:spPr>
            <a:xfrm>
              <a:off x="0" y="0"/>
              <a:ext cx="1824850" cy="512798"/>
            </a:xfrm>
            <a:custGeom>
              <a:avLst/>
              <a:gdLst/>
              <a:ahLst/>
              <a:cxnLst/>
              <a:rect l="l" t="t" r="r" b="b"/>
              <a:pathLst>
                <a:path w="1824850" h="512798">
                  <a:moveTo>
                    <a:pt x="27934" y="0"/>
                  </a:moveTo>
                  <a:lnTo>
                    <a:pt x="1796916" y="0"/>
                  </a:lnTo>
                  <a:cubicBezTo>
                    <a:pt x="1812343" y="0"/>
                    <a:pt x="1824850" y="12507"/>
                    <a:pt x="1824850" y="27934"/>
                  </a:cubicBezTo>
                  <a:lnTo>
                    <a:pt x="1824850" y="484863"/>
                  </a:lnTo>
                  <a:cubicBezTo>
                    <a:pt x="1824850" y="492272"/>
                    <a:pt x="1821907" y="499377"/>
                    <a:pt x="1816668" y="504616"/>
                  </a:cubicBezTo>
                  <a:cubicBezTo>
                    <a:pt x="1811429" y="509855"/>
                    <a:pt x="1804324" y="512798"/>
                    <a:pt x="1796916" y="512798"/>
                  </a:cubicBezTo>
                  <a:lnTo>
                    <a:pt x="27934" y="512798"/>
                  </a:lnTo>
                  <a:cubicBezTo>
                    <a:pt x="20526" y="512798"/>
                    <a:pt x="13420" y="509855"/>
                    <a:pt x="8182" y="504616"/>
                  </a:cubicBezTo>
                  <a:cubicBezTo>
                    <a:pt x="2943" y="499377"/>
                    <a:pt x="0" y="492272"/>
                    <a:pt x="0" y="484863"/>
                  </a:cubicBezTo>
                  <a:lnTo>
                    <a:pt x="0" y="27934"/>
                  </a:lnTo>
                  <a:cubicBezTo>
                    <a:pt x="0" y="20526"/>
                    <a:pt x="2943" y="13420"/>
                    <a:pt x="8182" y="8182"/>
                  </a:cubicBezTo>
                  <a:cubicBezTo>
                    <a:pt x="13420" y="2943"/>
                    <a:pt x="20526" y="0"/>
                    <a:pt x="27934" y="0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id="27" name="TextBox 27"/>
            <p:cNvSpPr txBox="1"/>
            <p:nvPr/>
          </p:nvSpPr>
          <p:spPr>
            <a:xfrm>
              <a:off x="0" y="-38100"/>
              <a:ext cx="1824850" cy="550898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grpSp>
        <p:nvGrpSpPr>
          <p:cNvPr id="28" name="Group 28"/>
          <p:cNvGrpSpPr/>
          <p:nvPr/>
        </p:nvGrpSpPr>
        <p:grpSpPr>
          <a:xfrm>
            <a:off x="9741903" y="7528679"/>
            <a:ext cx="6928726" cy="1947029"/>
            <a:chOff x="0" y="0"/>
            <a:chExt cx="1824850" cy="512798"/>
          </a:xfrm>
          <a:effectLst>
            <a:glow rad="101600">
              <a:schemeClr val="tx1">
                <a:alpha val="60000"/>
              </a:schemeClr>
            </a:glow>
          </a:effectLst>
        </p:grpSpPr>
        <p:sp>
          <p:nvSpPr>
            <p:cNvPr id="29" name="Freeform 29"/>
            <p:cNvSpPr/>
            <p:nvPr/>
          </p:nvSpPr>
          <p:spPr>
            <a:xfrm>
              <a:off x="0" y="0"/>
              <a:ext cx="1824850" cy="512798"/>
            </a:xfrm>
            <a:custGeom>
              <a:avLst/>
              <a:gdLst/>
              <a:ahLst/>
              <a:cxnLst/>
              <a:rect l="l" t="t" r="r" b="b"/>
              <a:pathLst>
                <a:path w="1824850" h="512798">
                  <a:moveTo>
                    <a:pt x="27934" y="0"/>
                  </a:moveTo>
                  <a:lnTo>
                    <a:pt x="1796916" y="0"/>
                  </a:lnTo>
                  <a:cubicBezTo>
                    <a:pt x="1812343" y="0"/>
                    <a:pt x="1824850" y="12507"/>
                    <a:pt x="1824850" y="27934"/>
                  </a:cubicBezTo>
                  <a:lnTo>
                    <a:pt x="1824850" y="484863"/>
                  </a:lnTo>
                  <a:cubicBezTo>
                    <a:pt x="1824850" y="492272"/>
                    <a:pt x="1821907" y="499377"/>
                    <a:pt x="1816668" y="504616"/>
                  </a:cubicBezTo>
                  <a:cubicBezTo>
                    <a:pt x="1811429" y="509855"/>
                    <a:pt x="1804324" y="512798"/>
                    <a:pt x="1796916" y="512798"/>
                  </a:cubicBezTo>
                  <a:lnTo>
                    <a:pt x="27934" y="512798"/>
                  </a:lnTo>
                  <a:cubicBezTo>
                    <a:pt x="20526" y="512798"/>
                    <a:pt x="13420" y="509855"/>
                    <a:pt x="8182" y="504616"/>
                  </a:cubicBezTo>
                  <a:cubicBezTo>
                    <a:pt x="2943" y="499377"/>
                    <a:pt x="0" y="492272"/>
                    <a:pt x="0" y="484863"/>
                  </a:cubicBezTo>
                  <a:lnTo>
                    <a:pt x="0" y="27934"/>
                  </a:lnTo>
                  <a:cubicBezTo>
                    <a:pt x="0" y="20526"/>
                    <a:pt x="2943" y="13420"/>
                    <a:pt x="8182" y="8182"/>
                  </a:cubicBezTo>
                  <a:cubicBezTo>
                    <a:pt x="13420" y="2943"/>
                    <a:pt x="20526" y="0"/>
                    <a:pt x="27934" y="0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id="30" name="TextBox 30"/>
            <p:cNvSpPr txBox="1"/>
            <p:nvPr/>
          </p:nvSpPr>
          <p:spPr>
            <a:xfrm>
              <a:off x="0" y="-38100"/>
              <a:ext cx="1824850" cy="550898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31" name="Freeform 31"/>
          <p:cNvSpPr/>
          <p:nvPr/>
        </p:nvSpPr>
        <p:spPr>
          <a:xfrm>
            <a:off x="7464502" y="5537377"/>
            <a:ext cx="611273" cy="611273"/>
          </a:xfrm>
          <a:custGeom>
            <a:avLst/>
            <a:gdLst/>
            <a:ahLst/>
            <a:cxnLst/>
            <a:rect l="l" t="t" r="r" b="b"/>
            <a:pathLst>
              <a:path w="611273" h="611273">
                <a:moveTo>
                  <a:pt x="0" y="0"/>
                </a:moveTo>
                <a:lnTo>
                  <a:pt x="611273" y="0"/>
                </a:lnTo>
                <a:lnTo>
                  <a:pt x="611273" y="611274"/>
                </a:lnTo>
                <a:lnTo>
                  <a:pt x="0" y="611274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</p:sp>
      <p:sp>
        <p:nvSpPr>
          <p:cNvPr id="32" name="Freeform 32"/>
          <p:cNvSpPr/>
          <p:nvPr/>
        </p:nvSpPr>
        <p:spPr>
          <a:xfrm>
            <a:off x="7459733" y="7652387"/>
            <a:ext cx="563501" cy="562092"/>
          </a:xfrm>
          <a:custGeom>
            <a:avLst/>
            <a:gdLst/>
            <a:ahLst/>
            <a:cxnLst/>
            <a:rect l="l" t="t" r="r" b="b"/>
            <a:pathLst>
              <a:path w="563501" h="562092">
                <a:moveTo>
                  <a:pt x="0" y="0"/>
                </a:moveTo>
                <a:lnTo>
                  <a:pt x="563501" y="0"/>
                </a:lnTo>
                <a:lnTo>
                  <a:pt x="563501" y="562092"/>
                </a:lnTo>
                <a:lnTo>
                  <a:pt x="0" y="562092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</p:sp>
      <p:sp>
        <p:nvSpPr>
          <p:cNvPr id="33" name="Freeform 33"/>
          <p:cNvSpPr/>
          <p:nvPr/>
        </p:nvSpPr>
        <p:spPr>
          <a:xfrm>
            <a:off x="15905464" y="3387023"/>
            <a:ext cx="551871" cy="510481"/>
          </a:xfrm>
          <a:custGeom>
            <a:avLst/>
            <a:gdLst/>
            <a:ahLst/>
            <a:cxnLst/>
            <a:rect l="l" t="t" r="r" b="b"/>
            <a:pathLst>
              <a:path w="551871" h="510481">
                <a:moveTo>
                  <a:pt x="0" y="0"/>
                </a:moveTo>
                <a:lnTo>
                  <a:pt x="551871" y="0"/>
                </a:lnTo>
                <a:lnTo>
                  <a:pt x="551871" y="510481"/>
                </a:lnTo>
                <a:lnTo>
                  <a:pt x="0" y="510481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a:blipFill>
        </p:spPr>
      </p:sp>
      <p:sp>
        <p:nvSpPr>
          <p:cNvPr id="34" name="Freeform 34"/>
          <p:cNvSpPr/>
          <p:nvPr/>
        </p:nvSpPr>
        <p:spPr>
          <a:xfrm>
            <a:off x="15905464" y="5479310"/>
            <a:ext cx="607279" cy="587542"/>
          </a:xfrm>
          <a:custGeom>
            <a:avLst/>
            <a:gdLst/>
            <a:ahLst/>
            <a:cxnLst/>
            <a:rect l="l" t="t" r="r" b="b"/>
            <a:pathLst>
              <a:path w="607279" h="587542">
                <a:moveTo>
                  <a:pt x="0" y="0"/>
                </a:moveTo>
                <a:lnTo>
                  <a:pt x="607279" y="0"/>
                </a:lnTo>
                <a:lnTo>
                  <a:pt x="607279" y="587542"/>
                </a:lnTo>
                <a:lnTo>
                  <a:pt x="0" y="587542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a:blipFill>
        </p:spPr>
      </p:sp>
      <p:sp>
        <p:nvSpPr>
          <p:cNvPr id="35" name="Freeform 35"/>
          <p:cNvSpPr/>
          <p:nvPr/>
        </p:nvSpPr>
        <p:spPr>
          <a:xfrm>
            <a:off x="15905464" y="7705478"/>
            <a:ext cx="607279" cy="607279"/>
          </a:xfrm>
          <a:custGeom>
            <a:avLst/>
            <a:gdLst/>
            <a:ahLst/>
            <a:cxnLst/>
            <a:rect l="l" t="t" r="r" b="b"/>
            <a:pathLst>
              <a:path w="607279" h="607279">
                <a:moveTo>
                  <a:pt x="0" y="0"/>
                </a:moveTo>
                <a:lnTo>
                  <a:pt x="607279" y="0"/>
                </a:lnTo>
                <a:lnTo>
                  <a:pt x="607279" y="607279"/>
                </a:lnTo>
                <a:lnTo>
                  <a:pt x="0" y="607279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/>
            </a:stretch>
          </a:blipFill>
        </p:spPr>
      </p:sp>
      <p:sp>
        <p:nvSpPr>
          <p:cNvPr id="36" name="TextBox 36"/>
          <p:cNvSpPr txBox="1"/>
          <p:nvPr/>
        </p:nvSpPr>
        <p:spPr>
          <a:xfrm>
            <a:off x="1039108" y="441474"/>
            <a:ext cx="2325602" cy="19816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680"/>
              </a:lnSpc>
              <a:spcBef>
                <a:spcPct val="0"/>
              </a:spcBef>
            </a:pPr>
            <a:r>
              <a:rPr lang="en-US" sz="1200">
                <a:solidFill>
                  <a:srgbClr val="1F2020"/>
                </a:solidFill>
                <a:latin typeface="Open Sans"/>
                <a:ea typeface="Open Sans"/>
                <a:cs typeface="Open Sans"/>
                <a:sym typeface="Open Sans"/>
              </a:rPr>
              <a:t>INSTITUT TEKNOLOGI GARUT</a:t>
            </a:r>
          </a:p>
        </p:txBody>
      </p:sp>
      <p:sp>
        <p:nvSpPr>
          <p:cNvPr id="37" name="TextBox 37"/>
          <p:cNvSpPr txBox="1"/>
          <p:nvPr/>
        </p:nvSpPr>
        <p:spPr>
          <a:xfrm>
            <a:off x="15940842" y="441474"/>
            <a:ext cx="978460" cy="19797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680"/>
              </a:lnSpc>
              <a:spcBef>
                <a:spcPct val="0"/>
              </a:spcBef>
            </a:pPr>
            <a:r>
              <a:rPr lang="en-US" sz="1200">
                <a:solidFill>
                  <a:srgbClr val="1F2020"/>
                </a:solidFill>
                <a:latin typeface="Open Sans"/>
                <a:ea typeface="Open Sans"/>
                <a:cs typeface="Open Sans"/>
                <a:sym typeface="Open Sans"/>
              </a:rPr>
              <a:t>Contact</a:t>
            </a:r>
          </a:p>
        </p:txBody>
      </p:sp>
      <p:sp>
        <p:nvSpPr>
          <p:cNvPr id="38" name="TextBox 38"/>
          <p:cNvSpPr txBox="1"/>
          <p:nvPr/>
        </p:nvSpPr>
        <p:spPr>
          <a:xfrm>
            <a:off x="14385046" y="441474"/>
            <a:ext cx="1060497" cy="19797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680"/>
              </a:lnSpc>
              <a:spcBef>
                <a:spcPct val="0"/>
              </a:spcBef>
            </a:pPr>
            <a:r>
              <a:rPr lang="en-US" sz="1200">
                <a:solidFill>
                  <a:srgbClr val="1F2020"/>
                </a:solidFill>
                <a:latin typeface="Open Sans"/>
                <a:ea typeface="Open Sans"/>
                <a:cs typeface="Open Sans"/>
                <a:sym typeface="Open Sans"/>
              </a:rPr>
              <a:t>About Us</a:t>
            </a:r>
          </a:p>
        </p:txBody>
      </p:sp>
      <p:sp>
        <p:nvSpPr>
          <p:cNvPr id="39" name="TextBox 39"/>
          <p:cNvSpPr txBox="1"/>
          <p:nvPr/>
        </p:nvSpPr>
        <p:spPr>
          <a:xfrm>
            <a:off x="13154289" y="441474"/>
            <a:ext cx="735456" cy="19797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680"/>
              </a:lnSpc>
              <a:spcBef>
                <a:spcPct val="0"/>
              </a:spcBef>
            </a:pPr>
            <a:r>
              <a:rPr lang="en-US" sz="1200">
                <a:solidFill>
                  <a:srgbClr val="1F2020"/>
                </a:solidFill>
                <a:latin typeface="Open Sans"/>
                <a:ea typeface="Open Sans"/>
                <a:cs typeface="Open Sans"/>
                <a:sym typeface="Open Sans"/>
              </a:rPr>
              <a:t>Service</a:t>
            </a:r>
          </a:p>
        </p:txBody>
      </p:sp>
      <p:sp>
        <p:nvSpPr>
          <p:cNvPr id="40" name="TextBox 40"/>
          <p:cNvSpPr txBox="1"/>
          <p:nvPr/>
        </p:nvSpPr>
        <p:spPr>
          <a:xfrm>
            <a:off x="11898530" y="441474"/>
            <a:ext cx="809760" cy="19797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680"/>
              </a:lnSpc>
              <a:spcBef>
                <a:spcPct val="0"/>
              </a:spcBef>
            </a:pPr>
            <a:r>
              <a:rPr lang="en-US" sz="1200">
                <a:solidFill>
                  <a:srgbClr val="1F2020"/>
                </a:solidFill>
                <a:latin typeface="Open Sans"/>
                <a:ea typeface="Open Sans"/>
                <a:cs typeface="Open Sans"/>
                <a:sym typeface="Open Sans"/>
              </a:rPr>
              <a:t>Home</a:t>
            </a:r>
          </a:p>
        </p:txBody>
      </p:sp>
      <p:sp>
        <p:nvSpPr>
          <p:cNvPr id="41" name="TextBox 41"/>
          <p:cNvSpPr txBox="1"/>
          <p:nvPr/>
        </p:nvSpPr>
        <p:spPr>
          <a:xfrm>
            <a:off x="17499918" y="9638067"/>
            <a:ext cx="547464" cy="24059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960"/>
              </a:lnSpc>
              <a:spcBef>
                <a:spcPct val="0"/>
              </a:spcBef>
            </a:pPr>
            <a:r>
              <a:rPr lang="en-US" sz="1400" b="1">
                <a:solidFill>
                  <a:srgbClr val="FFFFFF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03</a:t>
            </a:r>
          </a:p>
        </p:txBody>
      </p:sp>
      <p:sp>
        <p:nvSpPr>
          <p:cNvPr id="42" name="TextBox 42"/>
          <p:cNvSpPr txBox="1"/>
          <p:nvPr/>
        </p:nvSpPr>
        <p:spPr>
          <a:xfrm>
            <a:off x="1028700" y="909201"/>
            <a:ext cx="19092556" cy="87757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6709"/>
              </a:lnSpc>
            </a:pPr>
            <a:r>
              <a:rPr lang="en-US" sz="6099" b="1">
                <a:solidFill>
                  <a:srgbClr val="02CDFF"/>
                </a:solidFill>
                <a:latin typeface="Barlow Condensed Bold"/>
                <a:ea typeface="Barlow Condensed Bold"/>
                <a:cs typeface="Barlow Condensed Bold"/>
                <a:sym typeface="Barlow Condensed Bold"/>
              </a:rPr>
              <a:t>Format &amp; Struktur Proposal Tugas Besar</a:t>
            </a:r>
          </a:p>
        </p:txBody>
      </p:sp>
      <p:sp>
        <p:nvSpPr>
          <p:cNvPr id="43" name="TextBox 43"/>
          <p:cNvSpPr txBox="1"/>
          <p:nvPr/>
        </p:nvSpPr>
        <p:spPr>
          <a:xfrm>
            <a:off x="1028700" y="1929646"/>
            <a:ext cx="15890603" cy="104775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199"/>
              </a:lnSpc>
              <a:spcBef>
                <a:spcPct val="0"/>
              </a:spcBef>
            </a:pPr>
            <a:r>
              <a:rPr lang="en-US" sz="2999">
                <a:solidFill>
                  <a:srgbClr val="12100B"/>
                </a:solidFill>
                <a:latin typeface="Poppins"/>
                <a:ea typeface="Poppins"/>
                <a:cs typeface="Poppins"/>
                <a:sym typeface="Poppins"/>
              </a:rPr>
              <a:t>Proposal diajukan dalam format presentasi (PowerPoint/Slide) dengan memuat 6 komponen esensial berikut:</a:t>
            </a:r>
          </a:p>
        </p:txBody>
      </p:sp>
      <p:sp>
        <p:nvSpPr>
          <p:cNvPr id="44" name="TextBox 44"/>
          <p:cNvSpPr txBox="1"/>
          <p:nvPr/>
        </p:nvSpPr>
        <p:spPr>
          <a:xfrm>
            <a:off x="2042311" y="3373628"/>
            <a:ext cx="6514194" cy="52387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199"/>
              </a:lnSpc>
              <a:spcBef>
                <a:spcPct val="0"/>
              </a:spcBef>
            </a:pPr>
            <a:r>
              <a:rPr lang="en-US" sz="2999" b="1">
                <a:solidFill>
                  <a:srgbClr val="1178BE"/>
                </a:solidFill>
                <a:latin typeface="Poppins Bold"/>
                <a:ea typeface="Poppins Bold"/>
                <a:cs typeface="Poppins Bold"/>
                <a:sym typeface="Poppins Bold"/>
              </a:rPr>
              <a:t>Judul Proposal</a:t>
            </a:r>
          </a:p>
        </p:txBody>
      </p:sp>
      <p:sp>
        <p:nvSpPr>
          <p:cNvPr id="45" name="TextBox 45"/>
          <p:cNvSpPr txBox="1"/>
          <p:nvPr/>
        </p:nvSpPr>
        <p:spPr>
          <a:xfrm>
            <a:off x="2031903" y="3954654"/>
            <a:ext cx="6043873" cy="95440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520"/>
              </a:lnSpc>
              <a:spcBef>
                <a:spcPct val="0"/>
              </a:spcBef>
            </a:pPr>
            <a:r>
              <a:rPr lang="en-US" sz="1800">
                <a:solidFill>
                  <a:srgbClr val="12100B"/>
                </a:solidFill>
                <a:latin typeface="Poppins"/>
                <a:ea typeface="Poppins"/>
                <a:cs typeface="Poppins"/>
                <a:sym typeface="Poppins"/>
              </a:rPr>
              <a:t>Harus singkat, representatif, dan secara jelas menggambarkan solusi atau model yang ditawarkan.</a:t>
            </a:r>
          </a:p>
        </p:txBody>
      </p:sp>
      <p:sp>
        <p:nvSpPr>
          <p:cNvPr id="46" name="TextBox 46"/>
          <p:cNvSpPr txBox="1"/>
          <p:nvPr/>
        </p:nvSpPr>
        <p:spPr>
          <a:xfrm>
            <a:off x="2042311" y="5542976"/>
            <a:ext cx="6514194" cy="52387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199"/>
              </a:lnSpc>
              <a:spcBef>
                <a:spcPct val="0"/>
              </a:spcBef>
            </a:pPr>
            <a:r>
              <a:rPr lang="en-US" sz="2999" b="1">
                <a:solidFill>
                  <a:srgbClr val="1178BE"/>
                </a:solidFill>
                <a:latin typeface="Poppins Bold"/>
                <a:ea typeface="Poppins Bold"/>
                <a:cs typeface="Poppins Bold"/>
                <a:sym typeface="Poppins Bold"/>
              </a:rPr>
              <a:t>Latar Belakang</a:t>
            </a:r>
          </a:p>
        </p:txBody>
      </p:sp>
      <p:sp>
        <p:nvSpPr>
          <p:cNvPr id="47" name="TextBox 47"/>
          <p:cNvSpPr txBox="1"/>
          <p:nvPr/>
        </p:nvSpPr>
        <p:spPr>
          <a:xfrm>
            <a:off x="2042311" y="6120758"/>
            <a:ext cx="6043873" cy="95440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520"/>
              </a:lnSpc>
              <a:spcBef>
                <a:spcPct val="0"/>
              </a:spcBef>
            </a:pPr>
            <a:r>
              <a:rPr lang="en-US" sz="1800" dirty="0" err="1">
                <a:solidFill>
                  <a:srgbClr val="12100B"/>
                </a:solidFill>
                <a:latin typeface="Poppins"/>
                <a:ea typeface="Poppins"/>
                <a:cs typeface="Poppins"/>
                <a:sym typeface="Poppins"/>
              </a:rPr>
              <a:t>Uraikan</a:t>
            </a:r>
            <a:r>
              <a:rPr lang="en-US" sz="1800" dirty="0">
                <a:solidFill>
                  <a:srgbClr val="12100B"/>
                </a:solidFill>
                <a:latin typeface="Poppins"/>
                <a:ea typeface="Poppins"/>
                <a:cs typeface="Poppins"/>
                <a:sym typeface="Poppins"/>
              </a:rPr>
              <a:t> </a:t>
            </a:r>
            <a:r>
              <a:rPr lang="en-US" sz="1800" dirty="0" err="1">
                <a:solidFill>
                  <a:srgbClr val="12100B"/>
                </a:solidFill>
                <a:latin typeface="Poppins"/>
                <a:ea typeface="Poppins"/>
                <a:cs typeface="Poppins"/>
                <a:sym typeface="Poppins"/>
              </a:rPr>
              <a:t>akar</a:t>
            </a:r>
            <a:r>
              <a:rPr lang="en-US" sz="1800" dirty="0">
                <a:solidFill>
                  <a:srgbClr val="12100B"/>
                </a:solidFill>
                <a:latin typeface="Poppins"/>
                <a:ea typeface="Poppins"/>
                <a:cs typeface="Poppins"/>
                <a:sym typeface="Poppins"/>
              </a:rPr>
              <a:t> </a:t>
            </a:r>
            <a:r>
              <a:rPr lang="en-US" sz="1800" dirty="0" err="1">
                <a:solidFill>
                  <a:srgbClr val="12100B"/>
                </a:solidFill>
                <a:latin typeface="Poppins"/>
                <a:ea typeface="Poppins"/>
                <a:cs typeface="Poppins"/>
                <a:sym typeface="Poppins"/>
              </a:rPr>
              <a:t>permasalahan</a:t>
            </a:r>
            <a:r>
              <a:rPr lang="en-US" sz="1800" dirty="0">
                <a:solidFill>
                  <a:srgbClr val="12100B"/>
                </a:solidFill>
                <a:latin typeface="Poppins"/>
                <a:ea typeface="Poppins"/>
                <a:cs typeface="Poppins"/>
                <a:sym typeface="Poppins"/>
              </a:rPr>
              <a:t>, </a:t>
            </a:r>
            <a:r>
              <a:rPr lang="en-US" sz="1800" dirty="0" err="1">
                <a:solidFill>
                  <a:srgbClr val="12100B"/>
                </a:solidFill>
                <a:latin typeface="Poppins"/>
                <a:ea typeface="Poppins"/>
                <a:cs typeface="Poppins"/>
                <a:sym typeface="Poppins"/>
              </a:rPr>
              <a:t>urgensi</a:t>
            </a:r>
            <a:r>
              <a:rPr lang="en-US" sz="1800" dirty="0">
                <a:solidFill>
                  <a:srgbClr val="12100B"/>
                </a:solidFill>
                <a:latin typeface="Poppins"/>
                <a:ea typeface="Poppins"/>
                <a:cs typeface="Poppins"/>
                <a:sym typeface="Poppins"/>
              </a:rPr>
              <a:t>, dan </a:t>
            </a:r>
            <a:r>
              <a:rPr lang="en-US" sz="1800" dirty="0" err="1">
                <a:solidFill>
                  <a:srgbClr val="12100B"/>
                </a:solidFill>
                <a:latin typeface="Poppins"/>
                <a:ea typeface="Poppins"/>
                <a:cs typeface="Poppins"/>
                <a:sym typeface="Poppins"/>
              </a:rPr>
              <a:t>alasan</a:t>
            </a:r>
            <a:r>
              <a:rPr lang="en-US" sz="1800" dirty="0">
                <a:solidFill>
                  <a:srgbClr val="12100B"/>
                </a:solidFill>
                <a:latin typeface="Poppins"/>
                <a:ea typeface="Poppins"/>
                <a:cs typeface="Poppins"/>
                <a:sym typeface="Poppins"/>
              </a:rPr>
              <a:t> </a:t>
            </a:r>
            <a:r>
              <a:rPr lang="en-US" sz="1800" dirty="0" err="1">
                <a:solidFill>
                  <a:srgbClr val="12100B"/>
                </a:solidFill>
                <a:latin typeface="Poppins"/>
                <a:ea typeface="Poppins"/>
                <a:cs typeface="Poppins"/>
                <a:sym typeface="Poppins"/>
              </a:rPr>
              <a:t>mengapa</a:t>
            </a:r>
            <a:r>
              <a:rPr lang="en-US" sz="1800" dirty="0">
                <a:solidFill>
                  <a:srgbClr val="12100B"/>
                </a:solidFill>
                <a:latin typeface="Poppins"/>
                <a:ea typeface="Poppins"/>
                <a:cs typeface="Poppins"/>
                <a:sym typeface="Poppins"/>
              </a:rPr>
              <a:t> </a:t>
            </a:r>
            <a:r>
              <a:rPr lang="en-US" sz="1800" dirty="0" err="1">
                <a:solidFill>
                  <a:srgbClr val="12100B"/>
                </a:solidFill>
                <a:latin typeface="Poppins"/>
                <a:ea typeface="Poppins"/>
                <a:cs typeface="Poppins"/>
                <a:sym typeface="Poppins"/>
              </a:rPr>
              <a:t>pendekatan</a:t>
            </a:r>
            <a:r>
              <a:rPr lang="en-US" sz="1800" dirty="0">
                <a:solidFill>
                  <a:srgbClr val="12100B"/>
                </a:solidFill>
                <a:latin typeface="Poppins"/>
                <a:ea typeface="Poppins"/>
                <a:cs typeface="Poppins"/>
                <a:sym typeface="Poppins"/>
              </a:rPr>
              <a:t> </a:t>
            </a:r>
            <a:r>
              <a:rPr lang="en-US" sz="1800" dirty="0" err="1">
                <a:solidFill>
                  <a:srgbClr val="12100B"/>
                </a:solidFill>
                <a:latin typeface="Poppins"/>
                <a:ea typeface="Poppins"/>
                <a:cs typeface="Poppins"/>
                <a:sym typeface="Poppins"/>
              </a:rPr>
              <a:t>algoritma</a:t>
            </a:r>
            <a:r>
              <a:rPr lang="en-US" sz="1800" dirty="0">
                <a:solidFill>
                  <a:srgbClr val="12100B"/>
                </a:solidFill>
                <a:latin typeface="Poppins"/>
                <a:ea typeface="Poppins"/>
                <a:cs typeface="Poppins"/>
                <a:sym typeface="Poppins"/>
              </a:rPr>
              <a:t> </a:t>
            </a:r>
            <a:r>
              <a:rPr lang="en-US" sz="1800" dirty="0" err="1">
                <a:solidFill>
                  <a:srgbClr val="12100B"/>
                </a:solidFill>
                <a:latin typeface="Poppins"/>
                <a:ea typeface="Poppins"/>
                <a:cs typeface="Poppins"/>
                <a:sym typeface="Poppins"/>
              </a:rPr>
              <a:t>tersebut</a:t>
            </a:r>
            <a:r>
              <a:rPr lang="en-US" sz="1800" dirty="0">
                <a:solidFill>
                  <a:srgbClr val="12100B"/>
                </a:solidFill>
                <a:latin typeface="Poppins"/>
                <a:ea typeface="Poppins"/>
                <a:cs typeface="Poppins"/>
                <a:sym typeface="Poppins"/>
              </a:rPr>
              <a:t> </a:t>
            </a:r>
            <a:r>
              <a:rPr lang="en-US" sz="1800" dirty="0" err="1">
                <a:solidFill>
                  <a:srgbClr val="12100B"/>
                </a:solidFill>
                <a:latin typeface="Poppins"/>
                <a:ea typeface="Poppins"/>
                <a:cs typeface="Poppins"/>
                <a:sym typeface="Poppins"/>
              </a:rPr>
              <a:t>dibutuhkan</a:t>
            </a:r>
            <a:r>
              <a:rPr lang="en-US" sz="1800" dirty="0">
                <a:solidFill>
                  <a:srgbClr val="12100B"/>
                </a:solidFill>
                <a:latin typeface="Poppins"/>
                <a:ea typeface="Poppins"/>
                <a:cs typeface="Poppins"/>
                <a:sym typeface="Poppins"/>
              </a:rPr>
              <a:t>.</a:t>
            </a:r>
          </a:p>
        </p:txBody>
      </p:sp>
      <p:sp>
        <p:nvSpPr>
          <p:cNvPr id="48" name="TextBox 48"/>
          <p:cNvSpPr txBox="1"/>
          <p:nvPr/>
        </p:nvSpPr>
        <p:spPr>
          <a:xfrm>
            <a:off x="2042311" y="7690604"/>
            <a:ext cx="6514194" cy="52387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199"/>
              </a:lnSpc>
              <a:spcBef>
                <a:spcPct val="0"/>
              </a:spcBef>
            </a:pPr>
            <a:r>
              <a:rPr lang="en-US" sz="2999" b="1">
                <a:solidFill>
                  <a:srgbClr val="1178BE"/>
                </a:solidFill>
                <a:latin typeface="Poppins Bold"/>
                <a:ea typeface="Poppins Bold"/>
                <a:cs typeface="Poppins Bold"/>
                <a:sym typeface="Poppins Bold"/>
              </a:rPr>
              <a:t>Tujuan </a:t>
            </a:r>
          </a:p>
        </p:txBody>
      </p:sp>
      <p:sp>
        <p:nvSpPr>
          <p:cNvPr id="49" name="TextBox 49"/>
          <p:cNvSpPr txBox="1"/>
          <p:nvPr/>
        </p:nvSpPr>
        <p:spPr>
          <a:xfrm>
            <a:off x="2042311" y="8286861"/>
            <a:ext cx="6043873" cy="64008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520"/>
              </a:lnSpc>
              <a:spcBef>
                <a:spcPct val="0"/>
              </a:spcBef>
            </a:pPr>
            <a:r>
              <a:rPr lang="en-US" sz="1800">
                <a:solidFill>
                  <a:srgbClr val="12100B"/>
                </a:solidFill>
                <a:latin typeface="Poppins"/>
                <a:ea typeface="Poppins"/>
                <a:cs typeface="Poppins"/>
                <a:sym typeface="Poppins"/>
              </a:rPr>
              <a:t>Jelaskan target spesifik dan hasil terukur yang ingin dicapai melalui pemodelan sistem ini.</a:t>
            </a:r>
          </a:p>
        </p:txBody>
      </p:sp>
      <p:sp>
        <p:nvSpPr>
          <p:cNvPr id="50" name="TextBox 50"/>
          <p:cNvSpPr txBox="1"/>
          <p:nvPr/>
        </p:nvSpPr>
        <p:spPr>
          <a:xfrm>
            <a:off x="10504549" y="3373628"/>
            <a:ext cx="6514194" cy="52387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199"/>
              </a:lnSpc>
              <a:spcBef>
                <a:spcPct val="0"/>
              </a:spcBef>
            </a:pPr>
            <a:r>
              <a:rPr lang="en-US" sz="2999" b="1">
                <a:solidFill>
                  <a:srgbClr val="1178BE"/>
                </a:solidFill>
                <a:latin typeface="Poppins Bold"/>
                <a:ea typeface="Poppins Bold"/>
                <a:cs typeface="Poppins Bold"/>
                <a:sym typeface="Poppins Bold"/>
              </a:rPr>
              <a:t>Dataset </a:t>
            </a:r>
          </a:p>
        </p:txBody>
      </p:sp>
      <p:sp>
        <p:nvSpPr>
          <p:cNvPr id="51" name="TextBox 51"/>
          <p:cNvSpPr txBox="1"/>
          <p:nvPr/>
        </p:nvSpPr>
        <p:spPr>
          <a:xfrm>
            <a:off x="10504549" y="3954654"/>
            <a:ext cx="6043873" cy="64008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520"/>
              </a:lnSpc>
              <a:spcBef>
                <a:spcPct val="0"/>
              </a:spcBef>
            </a:pPr>
            <a:r>
              <a:rPr lang="en-US" sz="1800">
                <a:solidFill>
                  <a:srgbClr val="12100B"/>
                </a:solidFill>
                <a:latin typeface="Poppins"/>
                <a:ea typeface="Poppins"/>
                <a:cs typeface="Poppins"/>
                <a:sym typeface="Poppins"/>
              </a:rPr>
              <a:t>Menjelaskan sumber data, jumlah sampel baris, fitur (atribut), dan variabel target yang akan diproses.</a:t>
            </a:r>
          </a:p>
        </p:txBody>
      </p:sp>
      <p:sp>
        <p:nvSpPr>
          <p:cNvPr id="52" name="TextBox 52"/>
          <p:cNvSpPr txBox="1"/>
          <p:nvPr/>
        </p:nvSpPr>
        <p:spPr>
          <a:xfrm>
            <a:off x="10504549" y="5542976"/>
            <a:ext cx="6514194" cy="52387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199"/>
              </a:lnSpc>
              <a:spcBef>
                <a:spcPct val="0"/>
              </a:spcBef>
            </a:pPr>
            <a:r>
              <a:rPr lang="en-US" sz="2999" b="1">
                <a:solidFill>
                  <a:srgbClr val="1178BE"/>
                </a:solidFill>
                <a:latin typeface="Poppins Bold"/>
                <a:ea typeface="Poppins Bold"/>
                <a:cs typeface="Poppins Bold"/>
                <a:sym typeface="Poppins Bold"/>
              </a:rPr>
              <a:t>Metode / Algoritma</a:t>
            </a:r>
          </a:p>
        </p:txBody>
      </p:sp>
      <p:sp>
        <p:nvSpPr>
          <p:cNvPr id="53" name="TextBox 53"/>
          <p:cNvSpPr txBox="1"/>
          <p:nvPr/>
        </p:nvSpPr>
        <p:spPr>
          <a:xfrm>
            <a:off x="10504549" y="6120758"/>
            <a:ext cx="6043873" cy="95440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520"/>
              </a:lnSpc>
              <a:spcBef>
                <a:spcPct val="0"/>
              </a:spcBef>
            </a:pPr>
            <a:r>
              <a:rPr lang="en-US" sz="1800">
                <a:solidFill>
                  <a:srgbClr val="12100B"/>
                </a:solidFill>
                <a:latin typeface="Poppins"/>
                <a:ea typeface="Poppins"/>
                <a:cs typeface="Poppins"/>
                <a:sym typeface="Poppins"/>
              </a:rPr>
              <a:t>Merincikan jenis algoritma yang dipilih  beserta penjelasan singkat alur kerja/skenario analisis yang direncanakan</a:t>
            </a:r>
          </a:p>
        </p:txBody>
      </p:sp>
      <p:sp>
        <p:nvSpPr>
          <p:cNvPr id="54" name="TextBox 54"/>
          <p:cNvSpPr txBox="1"/>
          <p:nvPr/>
        </p:nvSpPr>
        <p:spPr>
          <a:xfrm>
            <a:off x="10504549" y="7709080"/>
            <a:ext cx="6514194" cy="52387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199"/>
              </a:lnSpc>
              <a:spcBef>
                <a:spcPct val="0"/>
              </a:spcBef>
            </a:pPr>
            <a:r>
              <a:rPr lang="en-US" sz="2999" b="1">
                <a:solidFill>
                  <a:srgbClr val="1178BE"/>
                </a:solidFill>
                <a:latin typeface="Poppins Bold"/>
                <a:ea typeface="Poppins Bold"/>
                <a:cs typeface="Poppins Bold"/>
                <a:sym typeface="Poppins Bold"/>
              </a:rPr>
              <a:t>Kesimpulan</a:t>
            </a:r>
          </a:p>
        </p:txBody>
      </p:sp>
      <p:sp>
        <p:nvSpPr>
          <p:cNvPr id="55" name="TextBox 55"/>
          <p:cNvSpPr txBox="1"/>
          <p:nvPr/>
        </p:nvSpPr>
        <p:spPr>
          <a:xfrm>
            <a:off x="10504549" y="8286861"/>
            <a:ext cx="6043873" cy="95440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520"/>
              </a:lnSpc>
              <a:spcBef>
                <a:spcPct val="0"/>
              </a:spcBef>
            </a:pPr>
            <a:r>
              <a:rPr lang="en-US" sz="1800">
                <a:solidFill>
                  <a:srgbClr val="12100B"/>
                </a:solidFill>
                <a:latin typeface="Poppins"/>
                <a:ea typeface="Poppins"/>
                <a:cs typeface="Poppins"/>
                <a:sym typeface="Poppins"/>
              </a:rPr>
              <a:t>Merangkum keseluruhan gagasan proposal secara singkat dan menegaskan kembali proyeksi manfaat nyata dari pembuatan model tersebut 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17749838" y="7527480"/>
            <a:ext cx="47625" cy="1740345"/>
            <a:chOff x="0" y="0"/>
            <a:chExt cx="12543" cy="458362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12543" cy="458362"/>
            </a:xfrm>
            <a:custGeom>
              <a:avLst/>
              <a:gdLst/>
              <a:ahLst/>
              <a:cxnLst/>
              <a:rect l="l" t="t" r="r" b="b"/>
              <a:pathLst>
                <a:path w="12543" h="458362">
                  <a:moveTo>
                    <a:pt x="0" y="0"/>
                  </a:moveTo>
                  <a:lnTo>
                    <a:pt x="12543" y="0"/>
                  </a:lnTo>
                  <a:lnTo>
                    <a:pt x="12543" y="458362"/>
                  </a:lnTo>
                  <a:lnTo>
                    <a:pt x="0" y="458362"/>
                  </a:lnTo>
                  <a:close/>
                </a:path>
              </a:pathLst>
            </a:custGeom>
            <a:gradFill rotWithShape="1">
              <a:gsLst>
                <a:gs pos="0">
                  <a:srgbClr val="45D0FC">
                    <a:alpha val="100000"/>
                  </a:srgbClr>
                </a:gs>
                <a:gs pos="100000">
                  <a:srgbClr val="085DA0">
                    <a:alpha val="100000"/>
                  </a:srgbClr>
                </a:gs>
              </a:gsLst>
              <a:lin ang="2700000"/>
            </a:gradFill>
          </p:spPr>
        </p:sp>
        <p:sp>
          <p:nvSpPr>
            <p:cNvPr id="4" name="TextBox 4"/>
            <p:cNvSpPr txBox="1"/>
            <p:nvPr/>
          </p:nvSpPr>
          <p:spPr>
            <a:xfrm>
              <a:off x="0" y="-38100"/>
              <a:ext cx="12543" cy="496462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sp>
        <p:nvSpPr>
          <p:cNvPr id="5" name="Freeform 5"/>
          <p:cNvSpPr/>
          <p:nvPr/>
        </p:nvSpPr>
        <p:spPr>
          <a:xfrm>
            <a:off x="473588" y="377888"/>
            <a:ext cx="369285" cy="363243"/>
          </a:xfrm>
          <a:custGeom>
            <a:avLst/>
            <a:gdLst/>
            <a:ahLst/>
            <a:cxnLst/>
            <a:rect l="l" t="t" r="r" b="b"/>
            <a:pathLst>
              <a:path w="369285" h="363243">
                <a:moveTo>
                  <a:pt x="0" y="0"/>
                </a:moveTo>
                <a:lnTo>
                  <a:pt x="369285" y="0"/>
                </a:lnTo>
                <a:lnTo>
                  <a:pt x="369285" y="363242"/>
                </a:lnTo>
                <a:lnTo>
                  <a:pt x="0" y="363242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</p:sp>
      <p:grpSp>
        <p:nvGrpSpPr>
          <p:cNvPr id="6" name="Group 6"/>
          <p:cNvGrpSpPr/>
          <p:nvPr/>
        </p:nvGrpSpPr>
        <p:grpSpPr>
          <a:xfrm>
            <a:off x="17259300" y="0"/>
            <a:ext cx="1028700" cy="1028700"/>
            <a:chOff x="0" y="0"/>
            <a:chExt cx="270933" cy="270933"/>
          </a:xfrm>
        </p:grpSpPr>
        <p:sp>
          <p:nvSpPr>
            <p:cNvPr id="7" name="Freeform 7"/>
            <p:cNvSpPr/>
            <p:nvPr/>
          </p:nvSpPr>
          <p:spPr>
            <a:xfrm>
              <a:off x="0" y="0"/>
              <a:ext cx="270933" cy="270933"/>
            </a:xfrm>
            <a:custGeom>
              <a:avLst/>
              <a:gdLst/>
              <a:ahLst/>
              <a:cxnLst/>
              <a:rect l="l" t="t" r="r" b="b"/>
              <a:pathLst>
                <a:path w="270933" h="270933">
                  <a:moveTo>
                    <a:pt x="0" y="0"/>
                  </a:moveTo>
                  <a:lnTo>
                    <a:pt x="270933" y="0"/>
                  </a:lnTo>
                  <a:lnTo>
                    <a:pt x="270933" y="270933"/>
                  </a:lnTo>
                  <a:lnTo>
                    <a:pt x="0" y="270933"/>
                  </a:lnTo>
                  <a:close/>
                </a:path>
              </a:pathLst>
            </a:custGeom>
            <a:gradFill rotWithShape="1">
              <a:gsLst>
                <a:gs pos="0">
                  <a:srgbClr val="45D0FC">
                    <a:alpha val="100000"/>
                  </a:srgbClr>
                </a:gs>
                <a:gs pos="100000">
                  <a:srgbClr val="085DA0">
                    <a:alpha val="100000"/>
                  </a:srgbClr>
                </a:gs>
              </a:gsLst>
              <a:lin ang="2700000"/>
            </a:gradFill>
          </p:spPr>
        </p:sp>
        <p:sp>
          <p:nvSpPr>
            <p:cNvPr id="8" name="TextBox 8"/>
            <p:cNvSpPr txBox="1"/>
            <p:nvPr/>
          </p:nvSpPr>
          <p:spPr>
            <a:xfrm>
              <a:off x="0" y="-38100"/>
              <a:ext cx="270933" cy="30903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grpSp>
        <p:nvGrpSpPr>
          <p:cNvPr id="9" name="Group 9"/>
          <p:cNvGrpSpPr/>
          <p:nvPr/>
        </p:nvGrpSpPr>
        <p:grpSpPr>
          <a:xfrm>
            <a:off x="17259300" y="9258300"/>
            <a:ext cx="1028700" cy="1028700"/>
            <a:chOff x="0" y="0"/>
            <a:chExt cx="270933" cy="270933"/>
          </a:xfrm>
        </p:grpSpPr>
        <p:sp>
          <p:nvSpPr>
            <p:cNvPr id="10" name="Freeform 10"/>
            <p:cNvSpPr/>
            <p:nvPr/>
          </p:nvSpPr>
          <p:spPr>
            <a:xfrm>
              <a:off x="0" y="0"/>
              <a:ext cx="270933" cy="270933"/>
            </a:xfrm>
            <a:custGeom>
              <a:avLst/>
              <a:gdLst/>
              <a:ahLst/>
              <a:cxnLst/>
              <a:rect l="l" t="t" r="r" b="b"/>
              <a:pathLst>
                <a:path w="270933" h="270933">
                  <a:moveTo>
                    <a:pt x="0" y="0"/>
                  </a:moveTo>
                  <a:lnTo>
                    <a:pt x="270933" y="0"/>
                  </a:lnTo>
                  <a:lnTo>
                    <a:pt x="270933" y="270933"/>
                  </a:lnTo>
                  <a:lnTo>
                    <a:pt x="0" y="270933"/>
                  </a:lnTo>
                  <a:close/>
                </a:path>
              </a:pathLst>
            </a:custGeom>
            <a:gradFill rotWithShape="1">
              <a:gsLst>
                <a:gs pos="0">
                  <a:srgbClr val="45D0FC">
                    <a:alpha val="100000"/>
                  </a:srgbClr>
                </a:gs>
                <a:gs pos="100000">
                  <a:srgbClr val="085DA0">
                    <a:alpha val="100000"/>
                  </a:srgbClr>
                </a:gs>
              </a:gsLst>
              <a:lin ang="2700000"/>
            </a:gradFill>
          </p:spPr>
        </p:sp>
        <p:sp>
          <p:nvSpPr>
            <p:cNvPr id="11" name="TextBox 11"/>
            <p:cNvSpPr txBox="1"/>
            <p:nvPr/>
          </p:nvSpPr>
          <p:spPr>
            <a:xfrm>
              <a:off x="0" y="-38100"/>
              <a:ext cx="270933" cy="30903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grpSp>
        <p:nvGrpSpPr>
          <p:cNvPr id="12" name="Group 12"/>
          <p:cNvGrpSpPr/>
          <p:nvPr/>
        </p:nvGrpSpPr>
        <p:grpSpPr>
          <a:xfrm>
            <a:off x="1028700" y="2403274"/>
            <a:ext cx="7678155" cy="6978687"/>
            <a:chOff x="0" y="0"/>
            <a:chExt cx="2022230" cy="1838008"/>
          </a:xfrm>
          <a:effectLst>
            <a:glow rad="101600">
              <a:schemeClr val="tx1">
                <a:alpha val="60000"/>
              </a:schemeClr>
            </a:glow>
          </a:effectLst>
        </p:grpSpPr>
        <p:sp>
          <p:nvSpPr>
            <p:cNvPr id="13" name="Freeform 13"/>
            <p:cNvSpPr/>
            <p:nvPr/>
          </p:nvSpPr>
          <p:spPr>
            <a:xfrm>
              <a:off x="0" y="0"/>
              <a:ext cx="2022230" cy="1838008"/>
            </a:xfrm>
            <a:custGeom>
              <a:avLst/>
              <a:gdLst/>
              <a:ahLst/>
              <a:cxnLst/>
              <a:rect l="l" t="t" r="r" b="b"/>
              <a:pathLst>
                <a:path w="2022230" h="1838008">
                  <a:moveTo>
                    <a:pt x="51424" y="0"/>
                  </a:moveTo>
                  <a:lnTo>
                    <a:pt x="1970806" y="0"/>
                  </a:lnTo>
                  <a:cubicBezTo>
                    <a:pt x="1999207" y="0"/>
                    <a:pt x="2022230" y="23023"/>
                    <a:pt x="2022230" y="51424"/>
                  </a:cubicBezTo>
                  <a:lnTo>
                    <a:pt x="2022230" y="1786584"/>
                  </a:lnTo>
                  <a:cubicBezTo>
                    <a:pt x="2022230" y="1814985"/>
                    <a:pt x="1999207" y="1838008"/>
                    <a:pt x="1970806" y="1838008"/>
                  </a:cubicBezTo>
                  <a:lnTo>
                    <a:pt x="51424" y="1838008"/>
                  </a:lnTo>
                  <a:cubicBezTo>
                    <a:pt x="37785" y="1838008"/>
                    <a:pt x="24705" y="1832590"/>
                    <a:pt x="15062" y="1822946"/>
                  </a:cubicBezTo>
                  <a:cubicBezTo>
                    <a:pt x="5418" y="1813302"/>
                    <a:pt x="0" y="1800223"/>
                    <a:pt x="0" y="1786584"/>
                  </a:cubicBezTo>
                  <a:lnTo>
                    <a:pt x="0" y="51424"/>
                  </a:lnTo>
                  <a:cubicBezTo>
                    <a:pt x="0" y="23023"/>
                    <a:pt x="23023" y="0"/>
                    <a:pt x="51424" y="0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id="14" name="TextBox 14"/>
            <p:cNvSpPr txBox="1"/>
            <p:nvPr/>
          </p:nvSpPr>
          <p:spPr>
            <a:xfrm>
              <a:off x="0" y="-38100"/>
              <a:ext cx="2022230" cy="1876108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grpSp>
        <p:nvGrpSpPr>
          <p:cNvPr id="15" name="Group 15"/>
          <p:cNvGrpSpPr/>
          <p:nvPr/>
        </p:nvGrpSpPr>
        <p:grpSpPr>
          <a:xfrm>
            <a:off x="9570737" y="2403274"/>
            <a:ext cx="7678155" cy="6978687"/>
            <a:chOff x="0" y="0"/>
            <a:chExt cx="2022230" cy="1838008"/>
          </a:xfrm>
          <a:effectLst>
            <a:glow rad="101600">
              <a:schemeClr val="tx1">
                <a:alpha val="60000"/>
              </a:schemeClr>
            </a:glow>
          </a:effectLst>
        </p:grpSpPr>
        <p:sp>
          <p:nvSpPr>
            <p:cNvPr id="16" name="Freeform 16"/>
            <p:cNvSpPr/>
            <p:nvPr/>
          </p:nvSpPr>
          <p:spPr>
            <a:xfrm>
              <a:off x="0" y="0"/>
              <a:ext cx="2022230" cy="1838008"/>
            </a:xfrm>
            <a:custGeom>
              <a:avLst/>
              <a:gdLst/>
              <a:ahLst/>
              <a:cxnLst/>
              <a:rect l="l" t="t" r="r" b="b"/>
              <a:pathLst>
                <a:path w="2022230" h="1838008">
                  <a:moveTo>
                    <a:pt x="51424" y="0"/>
                  </a:moveTo>
                  <a:lnTo>
                    <a:pt x="1970806" y="0"/>
                  </a:lnTo>
                  <a:cubicBezTo>
                    <a:pt x="1999207" y="0"/>
                    <a:pt x="2022230" y="23023"/>
                    <a:pt x="2022230" y="51424"/>
                  </a:cubicBezTo>
                  <a:lnTo>
                    <a:pt x="2022230" y="1786584"/>
                  </a:lnTo>
                  <a:cubicBezTo>
                    <a:pt x="2022230" y="1814985"/>
                    <a:pt x="1999207" y="1838008"/>
                    <a:pt x="1970806" y="1838008"/>
                  </a:cubicBezTo>
                  <a:lnTo>
                    <a:pt x="51424" y="1838008"/>
                  </a:lnTo>
                  <a:cubicBezTo>
                    <a:pt x="37785" y="1838008"/>
                    <a:pt x="24705" y="1832590"/>
                    <a:pt x="15062" y="1822946"/>
                  </a:cubicBezTo>
                  <a:cubicBezTo>
                    <a:pt x="5418" y="1813302"/>
                    <a:pt x="0" y="1800223"/>
                    <a:pt x="0" y="1786584"/>
                  </a:cubicBezTo>
                  <a:lnTo>
                    <a:pt x="0" y="51424"/>
                  </a:lnTo>
                  <a:cubicBezTo>
                    <a:pt x="0" y="23023"/>
                    <a:pt x="23023" y="0"/>
                    <a:pt x="51424" y="0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id="17" name="TextBox 17"/>
            <p:cNvSpPr txBox="1"/>
            <p:nvPr/>
          </p:nvSpPr>
          <p:spPr>
            <a:xfrm>
              <a:off x="0" y="-38100"/>
              <a:ext cx="2022230" cy="1876108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18" name="Freeform 18"/>
          <p:cNvSpPr/>
          <p:nvPr/>
        </p:nvSpPr>
        <p:spPr>
          <a:xfrm>
            <a:off x="1607314" y="2628320"/>
            <a:ext cx="2273732" cy="2023621"/>
          </a:xfrm>
          <a:custGeom>
            <a:avLst/>
            <a:gdLst/>
            <a:ahLst/>
            <a:cxnLst/>
            <a:rect l="l" t="t" r="r" b="b"/>
            <a:pathLst>
              <a:path w="2273732" h="2023621">
                <a:moveTo>
                  <a:pt x="0" y="0"/>
                </a:moveTo>
                <a:lnTo>
                  <a:pt x="2273732" y="0"/>
                </a:lnTo>
                <a:lnTo>
                  <a:pt x="2273732" y="2023621"/>
                </a:lnTo>
                <a:lnTo>
                  <a:pt x="0" y="2023621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19" name="Freeform 19"/>
          <p:cNvSpPr/>
          <p:nvPr/>
        </p:nvSpPr>
        <p:spPr>
          <a:xfrm>
            <a:off x="10097238" y="2573237"/>
            <a:ext cx="2023621" cy="2023621"/>
          </a:xfrm>
          <a:custGeom>
            <a:avLst/>
            <a:gdLst/>
            <a:ahLst/>
            <a:cxnLst/>
            <a:rect l="l" t="t" r="r" b="b"/>
            <a:pathLst>
              <a:path w="2023621" h="2023621">
                <a:moveTo>
                  <a:pt x="0" y="0"/>
                </a:moveTo>
                <a:lnTo>
                  <a:pt x="2023621" y="0"/>
                </a:lnTo>
                <a:lnTo>
                  <a:pt x="2023621" y="2023622"/>
                </a:lnTo>
                <a:lnTo>
                  <a:pt x="0" y="2023622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</p:sp>
      <p:sp>
        <p:nvSpPr>
          <p:cNvPr id="20" name="TextBox 20"/>
          <p:cNvSpPr txBox="1"/>
          <p:nvPr/>
        </p:nvSpPr>
        <p:spPr>
          <a:xfrm>
            <a:off x="1039108" y="441474"/>
            <a:ext cx="2325602" cy="19816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680"/>
              </a:lnSpc>
              <a:spcBef>
                <a:spcPct val="0"/>
              </a:spcBef>
            </a:pPr>
            <a:r>
              <a:rPr lang="en-US" sz="1200">
                <a:solidFill>
                  <a:srgbClr val="1F2020"/>
                </a:solidFill>
                <a:latin typeface="Open Sans"/>
                <a:ea typeface="Open Sans"/>
                <a:cs typeface="Open Sans"/>
                <a:sym typeface="Open Sans"/>
              </a:rPr>
              <a:t>INSTITUT TEKNOLOGI GARUT</a:t>
            </a:r>
          </a:p>
        </p:txBody>
      </p:sp>
      <p:sp>
        <p:nvSpPr>
          <p:cNvPr id="21" name="TextBox 21"/>
          <p:cNvSpPr txBox="1"/>
          <p:nvPr/>
        </p:nvSpPr>
        <p:spPr>
          <a:xfrm>
            <a:off x="15940842" y="441474"/>
            <a:ext cx="978460" cy="19797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680"/>
              </a:lnSpc>
              <a:spcBef>
                <a:spcPct val="0"/>
              </a:spcBef>
            </a:pPr>
            <a:r>
              <a:rPr lang="en-US" sz="1200">
                <a:solidFill>
                  <a:srgbClr val="1F2020"/>
                </a:solidFill>
                <a:latin typeface="Open Sans"/>
                <a:ea typeface="Open Sans"/>
                <a:cs typeface="Open Sans"/>
                <a:sym typeface="Open Sans"/>
              </a:rPr>
              <a:t>Contact</a:t>
            </a:r>
          </a:p>
        </p:txBody>
      </p:sp>
      <p:sp>
        <p:nvSpPr>
          <p:cNvPr id="22" name="TextBox 22"/>
          <p:cNvSpPr txBox="1"/>
          <p:nvPr/>
        </p:nvSpPr>
        <p:spPr>
          <a:xfrm>
            <a:off x="14385046" y="441474"/>
            <a:ext cx="1060497" cy="19797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680"/>
              </a:lnSpc>
              <a:spcBef>
                <a:spcPct val="0"/>
              </a:spcBef>
            </a:pPr>
            <a:r>
              <a:rPr lang="en-US" sz="1200">
                <a:solidFill>
                  <a:srgbClr val="1F2020"/>
                </a:solidFill>
                <a:latin typeface="Open Sans"/>
                <a:ea typeface="Open Sans"/>
                <a:cs typeface="Open Sans"/>
                <a:sym typeface="Open Sans"/>
              </a:rPr>
              <a:t>About Us</a:t>
            </a:r>
          </a:p>
        </p:txBody>
      </p:sp>
      <p:sp>
        <p:nvSpPr>
          <p:cNvPr id="23" name="TextBox 23"/>
          <p:cNvSpPr txBox="1"/>
          <p:nvPr/>
        </p:nvSpPr>
        <p:spPr>
          <a:xfrm>
            <a:off x="13154289" y="441474"/>
            <a:ext cx="735456" cy="19797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680"/>
              </a:lnSpc>
              <a:spcBef>
                <a:spcPct val="0"/>
              </a:spcBef>
            </a:pPr>
            <a:r>
              <a:rPr lang="en-US" sz="1200">
                <a:solidFill>
                  <a:srgbClr val="1F2020"/>
                </a:solidFill>
                <a:latin typeface="Open Sans"/>
                <a:ea typeface="Open Sans"/>
                <a:cs typeface="Open Sans"/>
                <a:sym typeface="Open Sans"/>
              </a:rPr>
              <a:t>Service</a:t>
            </a:r>
          </a:p>
        </p:txBody>
      </p:sp>
      <p:sp>
        <p:nvSpPr>
          <p:cNvPr id="24" name="TextBox 24"/>
          <p:cNvSpPr txBox="1"/>
          <p:nvPr/>
        </p:nvSpPr>
        <p:spPr>
          <a:xfrm>
            <a:off x="11898530" y="441474"/>
            <a:ext cx="809760" cy="19797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680"/>
              </a:lnSpc>
              <a:spcBef>
                <a:spcPct val="0"/>
              </a:spcBef>
            </a:pPr>
            <a:r>
              <a:rPr lang="en-US" sz="1200">
                <a:solidFill>
                  <a:srgbClr val="1F2020"/>
                </a:solidFill>
                <a:latin typeface="Open Sans"/>
                <a:ea typeface="Open Sans"/>
                <a:cs typeface="Open Sans"/>
                <a:sym typeface="Open Sans"/>
              </a:rPr>
              <a:t>Home</a:t>
            </a:r>
          </a:p>
        </p:txBody>
      </p:sp>
      <p:sp>
        <p:nvSpPr>
          <p:cNvPr id="25" name="TextBox 25"/>
          <p:cNvSpPr txBox="1"/>
          <p:nvPr/>
        </p:nvSpPr>
        <p:spPr>
          <a:xfrm>
            <a:off x="17499918" y="9638067"/>
            <a:ext cx="547464" cy="24059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960"/>
              </a:lnSpc>
              <a:spcBef>
                <a:spcPct val="0"/>
              </a:spcBef>
            </a:pPr>
            <a:r>
              <a:rPr lang="en-US" sz="1400" b="1">
                <a:solidFill>
                  <a:srgbClr val="FFFFFF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03</a:t>
            </a:r>
          </a:p>
        </p:txBody>
      </p:sp>
      <p:sp>
        <p:nvSpPr>
          <p:cNvPr id="26" name="TextBox 26"/>
          <p:cNvSpPr txBox="1"/>
          <p:nvPr/>
        </p:nvSpPr>
        <p:spPr>
          <a:xfrm>
            <a:off x="1028700" y="1106605"/>
            <a:ext cx="16230600" cy="87757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6709"/>
              </a:lnSpc>
            </a:pPr>
            <a:r>
              <a:rPr lang="en-US" sz="6099" b="1">
                <a:solidFill>
                  <a:srgbClr val="02CDFF"/>
                </a:solidFill>
                <a:latin typeface="Barlow Condensed Bold"/>
                <a:ea typeface="Barlow Condensed Bold"/>
                <a:cs typeface="Barlow Condensed Bold"/>
                <a:sym typeface="Barlow Condensed Bold"/>
              </a:rPr>
              <a:t>Ketentuan: Model &amp; Prototype UI</a:t>
            </a:r>
          </a:p>
        </p:txBody>
      </p:sp>
      <p:sp>
        <p:nvSpPr>
          <p:cNvPr id="27" name="TextBox 27"/>
          <p:cNvSpPr txBox="1"/>
          <p:nvPr/>
        </p:nvSpPr>
        <p:spPr>
          <a:xfrm>
            <a:off x="4105328" y="2891466"/>
            <a:ext cx="4000504" cy="153543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5939"/>
              </a:lnSpc>
            </a:pPr>
            <a:r>
              <a:rPr lang="en-US" sz="5399" b="1">
                <a:solidFill>
                  <a:srgbClr val="1178BE"/>
                </a:solidFill>
                <a:latin typeface="Barlow Condensed Bold"/>
                <a:ea typeface="Barlow Condensed Bold"/>
                <a:cs typeface="Barlow Condensed Bold"/>
                <a:sym typeface="Barlow Condensed Bold"/>
              </a:rPr>
              <a:t>Pengembangan Model</a:t>
            </a:r>
          </a:p>
        </p:txBody>
      </p:sp>
      <p:sp>
        <p:nvSpPr>
          <p:cNvPr id="28" name="TextBox 28"/>
          <p:cNvSpPr txBox="1"/>
          <p:nvPr/>
        </p:nvSpPr>
        <p:spPr>
          <a:xfrm>
            <a:off x="1288483" y="4749259"/>
            <a:ext cx="7158589" cy="39465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539746" lvl="1" indent="-269873" algn="l">
              <a:lnSpc>
                <a:spcPts val="3499"/>
              </a:lnSpc>
              <a:buAutoNum type="arabicPeriod"/>
            </a:pPr>
            <a:r>
              <a:rPr lang="en-US" sz="2499" b="1">
                <a:solidFill>
                  <a:srgbClr val="000000"/>
                </a:solidFill>
                <a:latin typeface="Poppins Bold"/>
                <a:ea typeface="Poppins Bold"/>
                <a:cs typeface="Poppins Bold"/>
                <a:sym typeface="Poppins Bold"/>
              </a:rPr>
              <a:t>Progres wajib:</a:t>
            </a:r>
            <a:r>
              <a:rPr lang="en-US" sz="2499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 Tahapan Pengembangan model wajib melalui alur AI/ML workflow yang telah disampaikan sebelumnya.</a:t>
            </a:r>
          </a:p>
          <a:p>
            <a:pPr marL="539746" lvl="1" indent="-269873" algn="l">
              <a:lnSpc>
                <a:spcPts val="3499"/>
              </a:lnSpc>
              <a:buAutoNum type="arabicPeriod"/>
            </a:pPr>
            <a:r>
              <a:rPr lang="en-US" sz="2499" b="1">
                <a:solidFill>
                  <a:srgbClr val="000000"/>
                </a:solidFill>
                <a:latin typeface="Poppins Bold"/>
                <a:ea typeface="Poppins Bold"/>
                <a:cs typeface="Poppins Bold"/>
                <a:sym typeface="Poppins Bold"/>
              </a:rPr>
              <a:t>Validasi Data:</a:t>
            </a:r>
            <a:r>
              <a:rPr lang="en-US" sz="2499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 Terapkan Train-Test Split(misal: 80:20) untuk mencegah model menghafal data (overfitting).</a:t>
            </a:r>
          </a:p>
          <a:p>
            <a:pPr marL="539746" lvl="1" indent="-269873" algn="l">
              <a:lnSpc>
                <a:spcPts val="3499"/>
              </a:lnSpc>
              <a:buAutoNum type="arabicPeriod"/>
            </a:pPr>
            <a:r>
              <a:rPr lang="en-US" sz="2499" b="1">
                <a:solidFill>
                  <a:srgbClr val="000000"/>
                </a:solidFill>
                <a:latin typeface="Poppins Bold"/>
                <a:ea typeface="Poppins Bold"/>
                <a:cs typeface="Poppins Bold"/>
                <a:sym typeface="Poppins Bold"/>
              </a:rPr>
              <a:t>Penyimpanan (Export):</a:t>
            </a:r>
            <a:r>
              <a:rPr lang="en-US" sz="2499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 Model yang sudah dilatih wajib di-export ke dalam bentuk file seperti .pkl, .joblib, atau .h5.</a:t>
            </a:r>
          </a:p>
        </p:txBody>
      </p:sp>
      <p:sp>
        <p:nvSpPr>
          <p:cNvPr id="29" name="TextBox 29"/>
          <p:cNvSpPr txBox="1"/>
          <p:nvPr/>
        </p:nvSpPr>
        <p:spPr>
          <a:xfrm>
            <a:off x="12792640" y="2891466"/>
            <a:ext cx="3935458" cy="153543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5939"/>
              </a:lnSpc>
            </a:pPr>
            <a:r>
              <a:rPr lang="en-US" sz="5399" b="1">
                <a:solidFill>
                  <a:srgbClr val="1178BE"/>
                </a:solidFill>
                <a:latin typeface="Barlow Condensed Bold"/>
                <a:ea typeface="Barlow Condensed Bold"/>
                <a:cs typeface="Barlow Condensed Bold"/>
                <a:sym typeface="Barlow Condensed Bold"/>
              </a:rPr>
              <a:t>Pembuatan Prototype</a:t>
            </a:r>
          </a:p>
        </p:txBody>
      </p:sp>
      <p:sp>
        <p:nvSpPr>
          <p:cNvPr id="30" name="TextBox 30"/>
          <p:cNvSpPr txBox="1"/>
          <p:nvPr/>
        </p:nvSpPr>
        <p:spPr>
          <a:xfrm>
            <a:off x="9740736" y="4530184"/>
            <a:ext cx="7338158" cy="43846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539746" lvl="1" indent="-269873" algn="l">
              <a:lnSpc>
                <a:spcPts val="3499"/>
              </a:lnSpc>
              <a:buAutoNum type="arabicPeriod"/>
            </a:pPr>
            <a:r>
              <a:rPr lang="en-US" sz="2499" b="1">
                <a:solidFill>
                  <a:srgbClr val="000000"/>
                </a:solidFill>
                <a:latin typeface="Poppins Bold"/>
                <a:ea typeface="Poppins Bold"/>
                <a:cs typeface="Poppins Bold"/>
                <a:sym typeface="Poppins Bold"/>
              </a:rPr>
              <a:t>Framework UI:</a:t>
            </a:r>
            <a:r>
              <a:rPr lang="en-US" sz="2499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 Mahasiswa disarankan membangun Script python / web app menggunakan Streamlit atau Gradio.</a:t>
            </a:r>
          </a:p>
          <a:p>
            <a:pPr marL="539746" lvl="1" indent="-269873" algn="l">
              <a:lnSpc>
                <a:spcPts val="3499"/>
              </a:lnSpc>
              <a:buAutoNum type="arabicPeriod"/>
            </a:pPr>
            <a:r>
              <a:rPr lang="en-US" sz="2499" b="1">
                <a:solidFill>
                  <a:srgbClr val="000000"/>
                </a:solidFill>
                <a:latin typeface="Poppins Bold"/>
                <a:ea typeface="Poppins Bold"/>
                <a:cs typeface="Poppins Bold"/>
                <a:sym typeface="Poppins Bold"/>
              </a:rPr>
              <a:t>Input Interaktif:</a:t>
            </a:r>
            <a:r>
              <a:rPr lang="en-US" sz="2499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 Aplikasi harus memiliki form/tombol upload (gambar, teks, angka) agar *user* bisa mencoba data baru.</a:t>
            </a:r>
          </a:p>
          <a:p>
            <a:pPr marL="539746" lvl="1" indent="-269873" algn="l">
              <a:lnSpc>
                <a:spcPts val="3499"/>
              </a:lnSpc>
              <a:buAutoNum type="arabicPeriod"/>
            </a:pPr>
            <a:r>
              <a:rPr lang="en-US" sz="2499" b="1">
                <a:solidFill>
                  <a:srgbClr val="000000"/>
                </a:solidFill>
                <a:latin typeface="Poppins Bold"/>
                <a:ea typeface="Poppins Bold"/>
                <a:cs typeface="Poppins Bold"/>
                <a:sym typeface="Poppins Bold"/>
              </a:rPr>
              <a:t>Output Jelas:</a:t>
            </a:r>
            <a:r>
              <a:rPr lang="en-US" sz="2499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 Hasil prediksi dari model harus ditampilkan di layar dengan bahasa yang mudah dipahami.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17749838" y="7527480"/>
            <a:ext cx="47625" cy="1740345"/>
            <a:chOff x="0" y="0"/>
            <a:chExt cx="12543" cy="458362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12543" cy="458362"/>
            </a:xfrm>
            <a:custGeom>
              <a:avLst/>
              <a:gdLst/>
              <a:ahLst/>
              <a:cxnLst/>
              <a:rect l="l" t="t" r="r" b="b"/>
              <a:pathLst>
                <a:path w="12543" h="458362">
                  <a:moveTo>
                    <a:pt x="0" y="0"/>
                  </a:moveTo>
                  <a:lnTo>
                    <a:pt x="12543" y="0"/>
                  </a:lnTo>
                  <a:lnTo>
                    <a:pt x="12543" y="458362"/>
                  </a:lnTo>
                  <a:lnTo>
                    <a:pt x="0" y="458362"/>
                  </a:lnTo>
                  <a:close/>
                </a:path>
              </a:pathLst>
            </a:custGeom>
            <a:gradFill rotWithShape="1">
              <a:gsLst>
                <a:gs pos="0">
                  <a:srgbClr val="45D0FC">
                    <a:alpha val="100000"/>
                  </a:srgbClr>
                </a:gs>
                <a:gs pos="100000">
                  <a:srgbClr val="085DA0">
                    <a:alpha val="100000"/>
                  </a:srgbClr>
                </a:gs>
              </a:gsLst>
              <a:lin ang="2700000"/>
            </a:gradFill>
          </p:spPr>
        </p:sp>
        <p:sp>
          <p:nvSpPr>
            <p:cNvPr id="4" name="TextBox 4"/>
            <p:cNvSpPr txBox="1"/>
            <p:nvPr/>
          </p:nvSpPr>
          <p:spPr>
            <a:xfrm>
              <a:off x="0" y="-38100"/>
              <a:ext cx="12543" cy="496462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sp>
        <p:nvSpPr>
          <p:cNvPr id="5" name="Freeform 5"/>
          <p:cNvSpPr/>
          <p:nvPr/>
        </p:nvSpPr>
        <p:spPr>
          <a:xfrm>
            <a:off x="473588" y="377888"/>
            <a:ext cx="369285" cy="363243"/>
          </a:xfrm>
          <a:custGeom>
            <a:avLst/>
            <a:gdLst/>
            <a:ahLst/>
            <a:cxnLst/>
            <a:rect l="l" t="t" r="r" b="b"/>
            <a:pathLst>
              <a:path w="369285" h="363243">
                <a:moveTo>
                  <a:pt x="0" y="0"/>
                </a:moveTo>
                <a:lnTo>
                  <a:pt x="369285" y="0"/>
                </a:lnTo>
                <a:lnTo>
                  <a:pt x="369285" y="363242"/>
                </a:lnTo>
                <a:lnTo>
                  <a:pt x="0" y="363242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</p:sp>
      <p:grpSp>
        <p:nvGrpSpPr>
          <p:cNvPr id="6" name="Group 6"/>
          <p:cNvGrpSpPr/>
          <p:nvPr/>
        </p:nvGrpSpPr>
        <p:grpSpPr>
          <a:xfrm>
            <a:off x="17259300" y="0"/>
            <a:ext cx="1028700" cy="1028700"/>
            <a:chOff x="0" y="0"/>
            <a:chExt cx="270933" cy="270933"/>
          </a:xfrm>
        </p:grpSpPr>
        <p:sp>
          <p:nvSpPr>
            <p:cNvPr id="7" name="Freeform 7"/>
            <p:cNvSpPr/>
            <p:nvPr/>
          </p:nvSpPr>
          <p:spPr>
            <a:xfrm>
              <a:off x="0" y="0"/>
              <a:ext cx="270933" cy="270933"/>
            </a:xfrm>
            <a:custGeom>
              <a:avLst/>
              <a:gdLst/>
              <a:ahLst/>
              <a:cxnLst/>
              <a:rect l="l" t="t" r="r" b="b"/>
              <a:pathLst>
                <a:path w="270933" h="270933">
                  <a:moveTo>
                    <a:pt x="0" y="0"/>
                  </a:moveTo>
                  <a:lnTo>
                    <a:pt x="270933" y="0"/>
                  </a:lnTo>
                  <a:lnTo>
                    <a:pt x="270933" y="270933"/>
                  </a:lnTo>
                  <a:lnTo>
                    <a:pt x="0" y="270933"/>
                  </a:lnTo>
                  <a:close/>
                </a:path>
              </a:pathLst>
            </a:custGeom>
            <a:gradFill rotWithShape="1">
              <a:gsLst>
                <a:gs pos="0">
                  <a:srgbClr val="45D0FC">
                    <a:alpha val="100000"/>
                  </a:srgbClr>
                </a:gs>
                <a:gs pos="100000">
                  <a:srgbClr val="085DA0">
                    <a:alpha val="100000"/>
                  </a:srgbClr>
                </a:gs>
              </a:gsLst>
              <a:lin ang="2700000"/>
            </a:gradFill>
          </p:spPr>
        </p:sp>
        <p:sp>
          <p:nvSpPr>
            <p:cNvPr id="8" name="TextBox 8"/>
            <p:cNvSpPr txBox="1"/>
            <p:nvPr/>
          </p:nvSpPr>
          <p:spPr>
            <a:xfrm>
              <a:off x="0" y="-38100"/>
              <a:ext cx="270933" cy="30903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grpSp>
        <p:nvGrpSpPr>
          <p:cNvPr id="9" name="Group 9"/>
          <p:cNvGrpSpPr/>
          <p:nvPr/>
        </p:nvGrpSpPr>
        <p:grpSpPr>
          <a:xfrm>
            <a:off x="17259300" y="9258300"/>
            <a:ext cx="1028700" cy="1028700"/>
            <a:chOff x="0" y="0"/>
            <a:chExt cx="270933" cy="270933"/>
          </a:xfrm>
        </p:grpSpPr>
        <p:sp>
          <p:nvSpPr>
            <p:cNvPr id="10" name="Freeform 10"/>
            <p:cNvSpPr/>
            <p:nvPr/>
          </p:nvSpPr>
          <p:spPr>
            <a:xfrm>
              <a:off x="0" y="0"/>
              <a:ext cx="270933" cy="270933"/>
            </a:xfrm>
            <a:custGeom>
              <a:avLst/>
              <a:gdLst/>
              <a:ahLst/>
              <a:cxnLst/>
              <a:rect l="l" t="t" r="r" b="b"/>
              <a:pathLst>
                <a:path w="270933" h="270933">
                  <a:moveTo>
                    <a:pt x="0" y="0"/>
                  </a:moveTo>
                  <a:lnTo>
                    <a:pt x="270933" y="0"/>
                  </a:lnTo>
                  <a:lnTo>
                    <a:pt x="270933" y="270933"/>
                  </a:lnTo>
                  <a:lnTo>
                    <a:pt x="0" y="270933"/>
                  </a:lnTo>
                  <a:close/>
                </a:path>
              </a:pathLst>
            </a:custGeom>
            <a:gradFill rotWithShape="1">
              <a:gsLst>
                <a:gs pos="0">
                  <a:srgbClr val="45D0FC">
                    <a:alpha val="100000"/>
                  </a:srgbClr>
                </a:gs>
                <a:gs pos="100000">
                  <a:srgbClr val="085DA0">
                    <a:alpha val="100000"/>
                  </a:srgbClr>
                </a:gs>
              </a:gsLst>
              <a:lin ang="2700000"/>
            </a:gradFill>
          </p:spPr>
        </p:sp>
        <p:sp>
          <p:nvSpPr>
            <p:cNvPr id="11" name="TextBox 11"/>
            <p:cNvSpPr txBox="1"/>
            <p:nvPr/>
          </p:nvSpPr>
          <p:spPr>
            <a:xfrm>
              <a:off x="0" y="-38100"/>
              <a:ext cx="270933" cy="30903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grpSp>
        <p:nvGrpSpPr>
          <p:cNvPr id="12" name="Group 12"/>
          <p:cNvGrpSpPr/>
          <p:nvPr/>
        </p:nvGrpSpPr>
        <p:grpSpPr>
          <a:xfrm>
            <a:off x="842873" y="2726867"/>
            <a:ext cx="8707157" cy="3154324"/>
            <a:chOff x="0" y="0"/>
            <a:chExt cx="2293243" cy="830769"/>
          </a:xfrm>
          <a:effectLst>
            <a:glow rad="101600">
              <a:srgbClr val="00B050">
                <a:alpha val="60000"/>
              </a:srgbClr>
            </a:glow>
          </a:effectLst>
        </p:grpSpPr>
        <p:sp>
          <p:nvSpPr>
            <p:cNvPr id="13" name="Freeform 13"/>
            <p:cNvSpPr/>
            <p:nvPr/>
          </p:nvSpPr>
          <p:spPr>
            <a:xfrm>
              <a:off x="0" y="0"/>
              <a:ext cx="2293243" cy="830769"/>
            </a:xfrm>
            <a:custGeom>
              <a:avLst/>
              <a:gdLst/>
              <a:ahLst/>
              <a:cxnLst/>
              <a:rect l="l" t="t" r="r" b="b"/>
              <a:pathLst>
                <a:path w="2293243" h="830769">
                  <a:moveTo>
                    <a:pt x="45346" y="0"/>
                  </a:moveTo>
                  <a:lnTo>
                    <a:pt x="2247897" y="0"/>
                  </a:lnTo>
                  <a:cubicBezTo>
                    <a:pt x="2259923" y="0"/>
                    <a:pt x="2271457" y="4778"/>
                    <a:pt x="2279961" y="13282"/>
                  </a:cubicBezTo>
                  <a:cubicBezTo>
                    <a:pt x="2288465" y="21786"/>
                    <a:pt x="2293243" y="33320"/>
                    <a:pt x="2293243" y="45346"/>
                  </a:cubicBezTo>
                  <a:lnTo>
                    <a:pt x="2293243" y="785422"/>
                  </a:lnTo>
                  <a:cubicBezTo>
                    <a:pt x="2293243" y="797449"/>
                    <a:pt x="2288465" y="808983"/>
                    <a:pt x="2279961" y="817487"/>
                  </a:cubicBezTo>
                  <a:cubicBezTo>
                    <a:pt x="2271457" y="825991"/>
                    <a:pt x="2259923" y="830769"/>
                    <a:pt x="2247897" y="830769"/>
                  </a:cubicBezTo>
                  <a:lnTo>
                    <a:pt x="45346" y="830769"/>
                  </a:lnTo>
                  <a:cubicBezTo>
                    <a:pt x="20302" y="830769"/>
                    <a:pt x="0" y="810466"/>
                    <a:pt x="0" y="785422"/>
                  </a:cubicBezTo>
                  <a:lnTo>
                    <a:pt x="0" y="45346"/>
                  </a:lnTo>
                  <a:cubicBezTo>
                    <a:pt x="0" y="33320"/>
                    <a:pt x="4778" y="21786"/>
                    <a:pt x="13282" y="13282"/>
                  </a:cubicBezTo>
                  <a:cubicBezTo>
                    <a:pt x="21786" y="4778"/>
                    <a:pt x="33320" y="0"/>
                    <a:pt x="45346" y="0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id="14" name="TextBox 14"/>
            <p:cNvSpPr txBox="1"/>
            <p:nvPr/>
          </p:nvSpPr>
          <p:spPr>
            <a:xfrm>
              <a:off x="0" y="-38100"/>
              <a:ext cx="2293243" cy="868869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15" name="Freeform 15"/>
          <p:cNvSpPr/>
          <p:nvPr/>
        </p:nvSpPr>
        <p:spPr>
          <a:xfrm>
            <a:off x="1033144" y="3002085"/>
            <a:ext cx="1105026" cy="1301945"/>
          </a:xfrm>
          <a:custGeom>
            <a:avLst/>
            <a:gdLst/>
            <a:ahLst/>
            <a:cxnLst/>
            <a:rect l="l" t="t" r="r" b="b"/>
            <a:pathLst>
              <a:path w="1105026" h="1301945">
                <a:moveTo>
                  <a:pt x="0" y="0"/>
                </a:moveTo>
                <a:lnTo>
                  <a:pt x="1105026" y="0"/>
                </a:lnTo>
                <a:lnTo>
                  <a:pt x="1105026" y="1301945"/>
                </a:lnTo>
                <a:lnTo>
                  <a:pt x="0" y="1301945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grpSp>
        <p:nvGrpSpPr>
          <p:cNvPr id="16" name="Group 16"/>
          <p:cNvGrpSpPr/>
          <p:nvPr/>
        </p:nvGrpSpPr>
        <p:grpSpPr>
          <a:xfrm>
            <a:off x="7722605" y="2902394"/>
            <a:ext cx="1592768" cy="1401635"/>
            <a:chOff x="0" y="0"/>
            <a:chExt cx="635000" cy="558800"/>
          </a:xfrm>
        </p:grpSpPr>
        <p:sp>
          <p:nvSpPr>
            <p:cNvPr id="17" name="Freeform 17"/>
            <p:cNvSpPr/>
            <p:nvPr/>
          </p:nvSpPr>
          <p:spPr>
            <a:xfrm>
              <a:off x="0" y="0"/>
              <a:ext cx="635000" cy="558800"/>
            </a:xfrm>
            <a:custGeom>
              <a:avLst/>
              <a:gdLst/>
              <a:ahLst/>
              <a:cxnLst/>
              <a:rect l="l" t="t" r="r" b="b"/>
              <a:pathLst>
                <a:path w="635000" h="558800">
                  <a:moveTo>
                    <a:pt x="431800" y="0"/>
                  </a:moveTo>
                  <a:cubicBezTo>
                    <a:pt x="542290" y="6350"/>
                    <a:pt x="629920" y="93980"/>
                    <a:pt x="635000" y="203200"/>
                  </a:cubicBezTo>
                  <a:lnTo>
                    <a:pt x="635000" y="259080"/>
                  </a:lnTo>
                  <a:cubicBezTo>
                    <a:pt x="629920" y="367030"/>
                    <a:pt x="542290" y="454660"/>
                    <a:pt x="434340" y="454660"/>
                  </a:cubicBezTo>
                  <a:lnTo>
                    <a:pt x="274320" y="454660"/>
                  </a:lnTo>
                  <a:cubicBezTo>
                    <a:pt x="245110" y="488950"/>
                    <a:pt x="213360" y="519430"/>
                    <a:pt x="176530" y="544830"/>
                  </a:cubicBezTo>
                  <a:lnTo>
                    <a:pt x="152400" y="558800"/>
                  </a:lnTo>
                  <a:cubicBezTo>
                    <a:pt x="139700" y="558800"/>
                    <a:pt x="137160" y="551180"/>
                    <a:pt x="140970" y="538480"/>
                  </a:cubicBezTo>
                  <a:cubicBezTo>
                    <a:pt x="149860" y="510540"/>
                    <a:pt x="148590" y="481330"/>
                    <a:pt x="138430" y="454660"/>
                  </a:cubicBezTo>
                  <a:lnTo>
                    <a:pt x="134620" y="443230"/>
                  </a:lnTo>
                  <a:cubicBezTo>
                    <a:pt x="57150" y="417830"/>
                    <a:pt x="1270" y="344170"/>
                    <a:pt x="0" y="259080"/>
                  </a:cubicBezTo>
                  <a:lnTo>
                    <a:pt x="0" y="201930"/>
                  </a:lnTo>
                  <a:cubicBezTo>
                    <a:pt x="0" y="93980"/>
                    <a:pt x="88900" y="6350"/>
                    <a:pt x="203200" y="0"/>
                  </a:cubicBezTo>
                  <a:lnTo>
                    <a:pt x="434340" y="0"/>
                  </a:lnTo>
                  <a:close/>
                </a:path>
              </a:pathLst>
            </a:custGeom>
            <a:solidFill>
              <a:srgbClr val="0E9445"/>
            </a:solidFill>
          </p:spPr>
        </p:sp>
        <p:sp>
          <p:nvSpPr>
            <p:cNvPr id="18" name="TextBox 18"/>
            <p:cNvSpPr txBox="1"/>
            <p:nvPr/>
          </p:nvSpPr>
          <p:spPr>
            <a:xfrm>
              <a:off x="107950" y="-57150"/>
              <a:ext cx="419100" cy="50165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r>
                <a:rPr lang="en-US" sz="1899" b="1">
                  <a:solidFill>
                    <a:srgbClr val="FFFFFF"/>
                  </a:solidFill>
                  <a:latin typeface="Poppins Bold"/>
                  <a:ea typeface="Poppins Bold"/>
                  <a:cs typeface="Poppins Bold"/>
                  <a:sym typeface="Poppins Bold"/>
                </a:rPr>
                <a:t>Bobot </a:t>
              </a:r>
            </a:p>
            <a:p>
              <a:pPr algn="ctr">
                <a:lnSpc>
                  <a:spcPts val="2659"/>
                </a:lnSpc>
              </a:pPr>
              <a:r>
                <a:rPr lang="en-US" sz="1899" b="1">
                  <a:solidFill>
                    <a:srgbClr val="FFFFFF"/>
                  </a:solidFill>
                  <a:latin typeface="Poppins Bold"/>
                  <a:ea typeface="Poppins Bold"/>
                  <a:cs typeface="Poppins Bold"/>
                  <a:sym typeface="Poppins Bold"/>
                </a:rPr>
                <a:t>30%</a:t>
              </a:r>
            </a:p>
          </p:txBody>
        </p:sp>
      </p:grpSp>
      <p:sp>
        <p:nvSpPr>
          <p:cNvPr id="19" name="Freeform 19"/>
          <p:cNvSpPr/>
          <p:nvPr/>
        </p:nvSpPr>
        <p:spPr>
          <a:xfrm>
            <a:off x="2251798" y="4606691"/>
            <a:ext cx="308281" cy="311641"/>
          </a:xfrm>
          <a:custGeom>
            <a:avLst/>
            <a:gdLst/>
            <a:ahLst/>
            <a:cxnLst/>
            <a:rect l="l" t="t" r="r" b="b"/>
            <a:pathLst>
              <a:path w="308281" h="311641">
                <a:moveTo>
                  <a:pt x="0" y="0"/>
                </a:moveTo>
                <a:lnTo>
                  <a:pt x="308281" y="0"/>
                </a:lnTo>
                <a:lnTo>
                  <a:pt x="308281" y="311641"/>
                </a:lnTo>
                <a:lnTo>
                  <a:pt x="0" y="311641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</p:sp>
      <p:sp>
        <p:nvSpPr>
          <p:cNvPr id="20" name="Freeform 20"/>
          <p:cNvSpPr/>
          <p:nvPr/>
        </p:nvSpPr>
        <p:spPr>
          <a:xfrm>
            <a:off x="2251798" y="5042157"/>
            <a:ext cx="308281" cy="311641"/>
          </a:xfrm>
          <a:custGeom>
            <a:avLst/>
            <a:gdLst/>
            <a:ahLst/>
            <a:cxnLst/>
            <a:rect l="l" t="t" r="r" b="b"/>
            <a:pathLst>
              <a:path w="308281" h="311641">
                <a:moveTo>
                  <a:pt x="0" y="0"/>
                </a:moveTo>
                <a:lnTo>
                  <a:pt x="308281" y="0"/>
                </a:lnTo>
                <a:lnTo>
                  <a:pt x="308281" y="311642"/>
                </a:lnTo>
                <a:lnTo>
                  <a:pt x="0" y="311642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</p:sp>
      <p:sp>
        <p:nvSpPr>
          <p:cNvPr id="21" name="Freeform 21"/>
          <p:cNvSpPr/>
          <p:nvPr/>
        </p:nvSpPr>
        <p:spPr>
          <a:xfrm>
            <a:off x="5932307" y="4606691"/>
            <a:ext cx="308281" cy="311641"/>
          </a:xfrm>
          <a:custGeom>
            <a:avLst/>
            <a:gdLst/>
            <a:ahLst/>
            <a:cxnLst/>
            <a:rect l="l" t="t" r="r" b="b"/>
            <a:pathLst>
              <a:path w="308281" h="311641">
                <a:moveTo>
                  <a:pt x="0" y="0"/>
                </a:moveTo>
                <a:lnTo>
                  <a:pt x="308281" y="0"/>
                </a:lnTo>
                <a:lnTo>
                  <a:pt x="308281" y="311641"/>
                </a:lnTo>
                <a:lnTo>
                  <a:pt x="0" y="311641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</p:sp>
      <p:sp>
        <p:nvSpPr>
          <p:cNvPr id="22" name="Freeform 22"/>
          <p:cNvSpPr/>
          <p:nvPr/>
        </p:nvSpPr>
        <p:spPr>
          <a:xfrm>
            <a:off x="5932307" y="5042157"/>
            <a:ext cx="308281" cy="311641"/>
          </a:xfrm>
          <a:custGeom>
            <a:avLst/>
            <a:gdLst/>
            <a:ahLst/>
            <a:cxnLst/>
            <a:rect l="l" t="t" r="r" b="b"/>
            <a:pathLst>
              <a:path w="308281" h="311641">
                <a:moveTo>
                  <a:pt x="0" y="0"/>
                </a:moveTo>
                <a:lnTo>
                  <a:pt x="308281" y="0"/>
                </a:lnTo>
                <a:lnTo>
                  <a:pt x="308281" y="311642"/>
                </a:lnTo>
                <a:lnTo>
                  <a:pt x="0" y="311642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</p:sp>
      <p:grpSp>
        <p:nvGrpSpPr>
          <p:cNvPr id="23" name="Group 23"/>
          <p:cNvGrpSpPr/>
          <p:nvPr/>
        </p:nvGrpSpPr>
        <p:grpSpPr>
          <a:xfrm>
            <a:off x="842873" y="6424117"/>
            <a:ext cx="8707157" cy="3154324"/>
            <a:chOff x="0" y="0"/>
            <a:chExt cx="2293243" cy="830769"/>
          </a:xfrm>
          <a:effectLst>
            <a:glow rad="101600">
              <a:srgbClr val="FFC000">
                <a:alpha val="60000"/>
              </a:srgbClr>
            </a:glow>
          </a:effectLst>
        </p:grpSpPr>
        <p:sp>
          <p:nvSpPr>
            <p:cNvPr id="24" name="Freeform 24"/>
            <p:cNvSpPr/>
            <p:nvPr/>
          </p:nvSpPr>
          <p:spPr>
            <a:xfrm>
              <a:off x="0" y="0"/>
              <a:ext cx="2293243" cy="830769"/>
            </a:xfrm>
            <a:custGeom>
              <a:avLst/>
              <a:gdLst/>
              <a:ahLst/>
              <a:cxnLst/>
              <a:rect l="l" t="t" r="r" b="b"/>
              <a:pathLst>
                <a:path w="2293243" h="830769">
                  <a:moveTo>
                    <a:pt x="45346" y="0"/>
                  </a:moveTo>
                  <a:lnTo>
                    <a:pt x="2247897" y="0"/>
                  </a:lnTo>
                  <a:cubicBezTo>
                    <a:pt x="2259923" y="0"/>
                    <a:pt x="2271457" y="4778"/>
                    <a:pt x="2279961" y="13282"/>
                  </a:cubicBezTo>
                  <a:cubicBezTo>
                    <a:pt x="2288465" y="21786"/>
                    <a:pt x="2293243" y="33320"/>
                    <a:pt x="2293243" y="45346"/>
                  </a:cubicBezTo>
                  <a:lnTo>
                    <a:pt x="2293243" y="785422"/>
                  </a:lnTo>
                  <a:cubicBezTo>
                    <a:pt x="2293243" y="797449"/>
                    <a:pt x="2288465" y="808983"/>
                    <a:pt x="2279961" y="817487"/>
                  </a:cubicBezTo>
                  <a:cubicBezTo>
                    <a:pt x="2271457" y="825991"/>
                    <a:pt x="2259923" y="830769"/>
                    <a:pt x="2247897" y="830769"/>
                  </a:cubicBezTo>
                  <a:lnTo>
                    <a:pt x="45346" y="830769"/>
                  </a:lnTo>
                  <a:cubicBezTo>
                    <a:pt x="20302" y="830769"/>
                    <a:pt x="0" y="810466"/>
                    <a:pt x="0" y="785422"/>
                  </a:cubicBezTo>
                  <a:lnTo>
                    <a:pt x="0" y="45346"/>
                  </a:lnTo>
                  <a:cubicBezTo>
                    <a:pt x="0" y="33320"/>
                    <a:pt x="4778" y="21786"/>
                    <a:pt x="13282" y="13282"/>
                  </a:cubicBezTo>
                  <a:cubicBezTo>
                    <a:pt x="21786" y="4778"/>
                    <a:pt x="33320" y="0"/>
                    <a:pt x="45346" y="0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id="25" name="TextBox 25"/>
            <p:cNvSpPr txBox="1"/>
            <p:nvPr/>
          </p:nvSpPr>
          <p:spPr>
            <a:xfrm>
              <a:off x="0" y="-38100"/>
              <a:ext cx="2293243" cy="868869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grpSp>
        <p:nvGrpSpPr>
          <p:cNvPr id="26" name="Group 26"/>
          <p:cNvGrpSpPr/>
          <p:nvPr/>
        </p:nvGrpSpPr>
        <p:grpSpPr>
          <a:xfrm>
            <a:off x="7722605" y="6599643"/>
            <a:ext cx="1592768" cy="1401635"/>
            <a:chOff x="0" y="0"/>
            <a:chExt cx="635000" cy="558800"/>
          </a:xfrm>
        </p:grpSpPr>
        <p:sp>
          <p:nvSpPr>
            <p:cNvPr id="27" name="Freeform 27"/>
            <p:cNvSpPr/>
            <p:nvPr/>
          </p:nvSpPr>
          <p:spPr>
            <a:xfrm>
              <a:off x="0" y="0"/>
              <a:ext cx="635000" cy="558800"/>
            </a:xfrm>
            <a:custGeom>
              <a:avLst/>
              <a:gdLst/>
              <a:ahLst/>
              <a:cxnLst/>
              <a:rect l="l" t="t" r="r" b="b"/>
              <a:pathLst>
                <a:path w="635000" h="558800">
                  <a:moveTo>
                    <a:pt x="431800" y="0"/>
                  </a:moveTo>
                  <a:cubicBezTo>
                    <a:pt x="542290" y="6350"/>
                    <a:pt x="629920" y="93980"/>
                    <a:pt x="635000" y="203200"/>
                  </a:cubicBezTo>
                  <a:lnTo>
                    <a:pt x="635000" y="259080"/>
                  </a:lnTo>
                  <a:cubicBezTo>
                    <a:pt x="629920" y="367030"/>
                    <a:pt x="542290" y="454660"/>
                    <a:pt x="434340" y="454660"/>
                  </a:cubicBezTo>
                  <a:lnTo>
                    <a:pt x="274320" y="454660"/>
                  </a:lnTo>
                  <a:cubicBezTo>
                    <a:pt x="245110" y="488950"/>
                    <a:pt x="213360" y="519430"/>
                    <a:pt x="176530" y="544830"/>
                  </a:cubicBezTo>
                  <a:lnTo>
                    <a:pt x="152400" y="558800"/>
                  </a:lnTo>
                  <a:cubicBezTo>
                    <a:pt x="139700" y="558800"/>
                    <a:pt x="137160" y="551180"/>
                    <a:pt x="140970" y="538480"/>
                  </a:cubicBezTo>
                  <a:cubicBezTo>
                    <a:pt x="149860" y="510540"/>
                    <a:pt x="148590" y="481330"/>
                    <a:pt x="138430" y="454660"/>
                  </a:cubicBezTo>
                  <a:lnTo>
                    <a:pt x="134620" y="443230"/>
                  </a:lnTo>
                  <a:cubicBezTo>
                    <a:pt x="57150" y="417830"/>
                    <a:pt x="1270" y="344170"/>
                    <a:pt x="0" y="259080"/>
                  </a:cubicBezTo>
                  <a:lnTo>
                    <a:pt x="0" y="201930"/>
                  </a:lnTo>
                  <a:cubicBezTo>
                    <a:pt x="0" y="93980"/>
                    <a:pt x="88900" y="6350"/>
                    <a:pt x="203200" y="0"/>
                  </a:cubicBezTo>
                  <a:lnTo>
                    <a:pt x="434340" y="0"/>
                  </a:lnTo>
                  <a:close/>
                </a:path>
              </a:pathLst>
            </a:custGeom>
            <a:solidFill>
              <a:srgbClr val="FF900C"/>
            </a:solidFill>
          </p:spPr>
        </p:sp>
        <p:sp>
          <p:nvSpPr>
            <p:cNvPr id="28" name="TextBox 28"/>
            <p:cNvSpPr txBox="1"/>
            <p:nvPr/>
          </p:nvSpPr>
          <p:spPr>
            <a:xfrm>
              <a:off x="107950" y="-57150"/>
              <a:ext cx="419100" cy="50165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r>
                <a:rPr lang="en-US" sz="1899" b="1">
                  <a:solidFill>
                    <a:srgbClr val="FFFFFF"/>
                  </a:solidFill>
                  <a:latin typeface="Poppins Bold"/>
                  <a:ea typeface="Poppins Bold"/>
                  <a:cs typeface="Poppins Bold"/>
                  <a:sym typeface="Poppins Bold"/>
                </a:rPr>
                <a:t>Bobot </a:t>
              </a:r>
            </a:p>
            <a:p>
              <a:pPr algn="ctr">
                <a:lnSpc>
                  <a:spcPts val="2659"/>
                </a:lnSpc>
              </a:pPr>
              <a:r>
                <a:rPr lang="en-US" sz="1899" b="1">
                  <a:solidFill>
                    <a:srgbClr val="FFFFFF"/>
                  </a:solidFill>
                  <a:latin typeface="Poppins Bold"/>
                  <a:ea typeface="Poppins Bold"/>
                  <a:cs typeface="Poppins Bold"/>
                  <a:sym typeface="Poppins Bold"/>
                </a:rPr>
                <a:t>70%</a:t>
              </a:r>
            </a:p>
          </p:txBody>
        </p:sp>
      </p:grpSp>
      <p:sp>
        <p:nvSpPr>
          <p:cNvPr id="29" name="Freeform 29"/>
          <p:cNvSpPr/>
          <p:nvPr/>
        </p:nvSpPr>
        <p:spPr>
          <a:xfrm>
            <a:off x="2251798" y="8303940"/>
            <a:ext cx="308281" cy="311641"/>
          </a:xfrm>
          <a:custGeom>
            <a:avLst/>
            <a:gdLst/>
            <a:ahLst/>
            <a:cxnLst/>
            <a:rect l="l" t="t" r="r" b="b"/>
            <a:pathLst>
              <a:path w="308281" h="311641">
                <a:moveTo>
                  <a:pt x="0" y="0"/>
                </a:moveTo>
                <a:lnTo>
                  <a:pt x="308281" y="0"/>
                </a:lnTo>
                <a:lnTo>
                  <a:pt x="308281" y="311642"/>
                </a:lnTo>
                <a:lnTo>
                  <a:pt x="0" y="311642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</p:sp>
      <p:sp>
        <p:nvSpPr>
          <p:cNvPr id="30" name="Freeform 30"/>
          <p:cNvSpPr/>
          <p:nvPr/>
        </p:nvSpPr>
        <p:spPr>
          <a:xfrm>
            <a:off x="2251798" y="8739407"/>
            <a:ext cx="308281" cy="311641"/>
          </a:xfrm>
          <a:custGeom>
            <a:avLst/>
            <a:gdLst/>
            <a:ahLst/>
            <a:cxnLst/>
            <a:rect l="l" t="t" r="r" b="b"/>
            <a:pathLst>
              <a:path w="308281" h="311641">
                <a:moveTo>
                  <a:pt x="0" y="0"/>
                </a:moveTo>
                <a:lnTo>
                  <a:pt x="308281" y="0"/>
                </a:lnTo>
                <a:lnTo>
                  <a:pt x="308281" y="311641"/>
                </a:lnTo>
                <a:lnTo>
                  <a:pt x="0" y="311641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</p:sp>
      <p:sp>
        <p:nvSpPr>
          <p:cNvPr id="31" name="Freeform 31"/>
          <p:cNvSpPr/>
          <p:nvPr/>
        </p:nvSpPr>
        <p:spPr>
          <a:xfrm>
            <a:off x="5932307" y="8303940"/>
            <a:ext cx="308281" cy="311641"/>
          </a:xfrm>
          <a:custGeom>
            <a:avLst/>
            <a:gdLst/>
            <a:ahLst/>
            <a:cxnLst/>
            <a:rect l="l" t="t" r="r" b="b"/>
            <a:pathLst>
              <a:path w="308281" h="311641">
                <a:moveTo>
                  <a:pt x="0" y="0"/>
                </a:moveTo>
                <a:lnTo>
                  <a:pt x="308281" y="0"/>
                </a:lnTo>
                <a:lnTo>
                  <a:pt x="308281" y="311642"/>
                </a:lnTo>
                <a:lnTo>
                  <a:pt x="0" y="311642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</p:sp>
      <p:sp>
        <p:nvSpPr>
          <p:cNvPr id="32" name="Freeform 32"/>
          <p:cNvSpPr/>
          <p:nvPr/>
        </p:nvSpPr>
        <p:spPr>
          <a:xfrm>
            <a:off x="5956799" y="8956184"/>
            <a:ext cx="308281" cy="311641"/>
          </a:xfrm>
          <a:custGeom>
            <a:avLst/>
            <a:gdLst/>
            <a:ahLst/>
            <a:cxnLst/>
            <a:rect l="l" t="t" r="r" b="b"/>
            <a:pathLst>
              <a:path w="308281" h="311641">
                <a:moveTo>
                  <a:pt x="0" y="0"/>
                </a:moveTo>
                <a:lnTo>
                  <a:pt x="308281" y="0"/>
                </a:lnTo>
                <a:lnTo>
                  <a:pt x="308281" y="311641"/>
                </a:lnTo>
                <a:lnTo>
                  <a:pt x="0" y="311641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</p:sp>
      <p:sp>
        <p:nvSpPr>
          <p:cNvPr id="33" name="Freeform 33"/>
          <p:cNvSpPr/>
          <p:nvPr/>
        </p:nvSpPr>
        <p:spPr>
          <a:xfrm>
            <a:off x="1213919" y="6650390"/>
            <a:ext cx="852053" cy="776142"/>
          </a:xfrm>
          <a:custGeom>
            <a:avLst/>
            <a:gdLst/>
            <a:ahLst/>
            <a:cxnLst/>
            <a:rect l="l" t="t" r="r" b="b"/>
            <a:pathLst>
              <a:path w="852053" h="776142">
                <a:moveTo>
                  <a:pt x="0" y="0"/>
                </a:moveTo>
                <a:lnTo>
                  <a:pt x="852052" y="0"/>
                </a:lnTo>
                <a:lnTo>
                  <a:pt x="852052" y="776143"/>
                </a:lnTo>
                <a:lnTo>
                  <a:pt x="0" y="776143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a:blipFill>
        </p:spPr>
      </p:sp>
      <p:grpSp>
        <p:nvGrpSpPr>
          <p:cNvPr id="34" name="Group 34"/>
          <p:cNvGrpSpPr/>
          <p:nvPr/>
        </p:nvGrpSpPr>
        <p:grpSpPr>
          <a:xfrm>
            <a:off x="9959605" y="2726867"/>
            <a:ext cx="7790232" cy="6713501"/>
            <a:chOff x="0" y="0"/>
            <a:chExt cx="2051748" cy="1768165"/>
          </a:xfrm>
          <a:effectLst>
            <a:glow rad="101600">
              <a:schemeClr val="tx2">
                <a:alpha val="60000"/>
              </a:schemeClr>
            </a:glow>
          </a:effectLst>
        </p:grpSpPr>
        <p:sp>
          <p:nvSpPr>
            <p:cNvPr id="35" name="Freeform 35"/>
            <p:cNvSpPr/>
            <p:nvPr/>
          </p:nvSpPr>
          <p:spPr>
            <a:xfrm>
              <a:off x="0" y="0"/>
              <a:ext cx="2051748" cy="1768165"/>
            </a:xfrm>
            <a:custGeom>
              <a:avLst/>
              <a:gdLst/>
              <a:ahLst/>
              <a:cxnLst/>
              <a:rect l="l" t="t" r="r" b="b"/>
              <a:pathLst>
                <a:path w="2051748" h="1768165">
                  <a:moveTo>
                    <a:pt x="50684" y="0"/>
                  </a:moveTo>
                  <a:lnTo>
                    <a:pt x="2001065" y="0"/>
                  </a:lnTo>
                  <a:cubicBezTo>
                    <a:pt x="2014507" y="0"/>
                    <a:pt x="2027399" y="5340"/>
                    <a:pt x="2036904" y="14845"/>
                  </a:cubicBezTo>
                  <a:cubicBezTo>
                    <a:pt x="2046409" y="24350"/>
                    <a:pt x="2051748" y="37242"/>
                    <a:pt x="2051748" y="50684"/>
                  </a:cubicBezTo>
                  <a:lnTo>
                    <a:pt x="2051748" y="1717481"/>
                  </a:lnTo>
                  <a:cubicBezTo>
                    <a:pt x="2051748" y="1745473"/>
                    <a:pt x="2029057" y="1768165"/>
                    <a:pt x="2001065" y="1768165"/>
                  </a:cubicBezTo>
                  <a:lnTo>
                    <a:pt x="50684" y="1768165"/>
                  </a:lnTo>
                  <a:cubicBezTo>
                    <a:pt x="22692" y="1768165"/>
                    <a:pt x="0" y="1745473"/>
                    <a:pt x="0" y="1717481"/>
                  </a:cubicBezTo>
                  <a:lnTo>
                    <a:pt x="0" y="50684"/>
                  </a:lnTo>
                  <a:cubicBezTo>
                    <a:pt x="0" y="22692"/>
                    <a:pt x="22692" y="0"/>
                    <a:pt x="50684" y="0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id="36" name="TextBox 36"/>
            <p:cNvSpPr txBox="1"/>
            <p:nvPr/>
          </p:nvSpPr>
          <p:spPr>
            <a:xfrm>
              <a:off x="0" y="-38100"/>
              <a:ext cx="2051748" cy="180626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graphicFrame>
        <p:nvGraphicFramePr>
          <p:cNvPr id="37" name="Table 37"/>
          <p:cNvGraphicFramePr>
            <a:graphicFrameLocks noGrp="1"/>
          </p:cNvGraphicFramePr>
          <p:nvPr/>
        </p:nvGraphicFramePr>
        <p:xfrm>
          <a:off x="10478023" y="5800110"/>
          <a:ext cx="6823444" cy="2476702"/>
        </p:xfrm>
        <a:graphic>
          <a:graphicData uri="http://schemas.openxmlformats.org/drawingml/2006/table">
            <a:tbl>
              <a:tblPr/>
              <a:tblGrid>
                <a:gridCol w="2714541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108903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822274">
                <a:tc>
                  <a:txBody>
                    <a:bodyPr/>
                    <a:lstStyle/>
                    <a:p>
                      <a:pPr algn="ctr">
                        <a:lnSpc>
                          <a:spcPts val="2240"/>
                        </a:lnSpc>
                        <a:defRPr/>
                      </a:pPr>
                      <a:r>
                        <a:rPr lang="en-US" sz="1600" b="1">
                          <a:solidFill>
                            <a:srgbClr val="000000"/>
                          </a:solidFill>
                          <a:latin typeface="Poppins Bold"/>
                          <a:ea typeface="Poppins Bold"/>
                          <a:cs typeface="Poppins Bold"/>
                          <a:sym typeface="Poppins Bold"/>
                        </a:rPr>
                        <a:t>Jenis Proyek</a:t>
                      </a:r>
                      <a:endParaRPr lang="en-US" sz="1100"/>
                    </a:p>
                  </a:txBody>
                  <a:tcPr marL="190500" marR="190500" marT="190500" marB="190500" anchor="ctr">
                    <a:lnL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240"/>
                        </a:lnSpc>
                        <a:defRPr/>
                      </a:pPr>
                      <a:r>
                        <a:rPr lang="en-US" sz="1600" b="1">
                          <a:solidFill>
                            <a:srgbClr val="000000"/>
                          </a:solidFill>
                          <a:latin typeface="Poppins Bold"/>
                          <a:ea typeface="Poppins Bold"/>
                          <a:cs typeface="Poppins Bold"/>
                          <a:sym typeface="Poppins Bold"/>
                        </a:rPr>
                        <a:t>Rumus Nilai Total</a:t>
                      </a:r>
                      <a:endParaRPr lang="en-US" sz="1100"/>
                    </a:p>
                  </a:txBody>
                  <a:tcPr marL="190500" marR="190500" marT="190500" marB="190500" anchor="ctr">
                    <a:lnL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822274">
                <a:tc>
                  <a:txBody>
                    <a:bodyPr/>
                    <a:lstStyle/>
                    <a:p>
                      <a:pPr algn="ctr">
                        <a:lnSpc>
                          <a:spcPts val="2240"/>
                        </a:lnSpc>
                        <a:defRPr/>
                      </a:pPr>
                      <a:r>
                        <a:rPr lang="en-US" sz="1600">
                          <a:solidFill>
                            <a:srgbClr val="000000"/>
                          </a:solidFill>
                          <a:latin typeface="Poppins"/>
                          <a:ea typeface="Poppins"/>
                          <a:cs typeface="Poppins"/>
                          <a:sym typeface="Poppins"/>
                        </a:rPr>
                        <a:t>Machine Learning</a:t>
                      </a:r>
                      <a:endParaRPr lang="en-US" sz="1100"/>
                    </a:p>
                  </a:txBody>
                  <a:tcPr marL="190500" marR="190500" marT="190500" marB="190500" anchor="ctr">
                    <a:lnL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240"/>
                        </a:lnSpc>
                        <a:defRPr/>
                      </a:pPr>
                      <a:r>
                        <a:rPr lang="en-US" sz="1600">
                          <a:solidFill>
                            <a:srgbClr val="000000"/>
                          </a:solidFill>
                          <a:latin typeface="Poppins"/>
                          <a:ea typeface="Poppins"/>
                          <a:cs typeface="Poppins"/>
                          <a:sym typeface="Poppins"/>
                        </a:rPr>
                        <a:t>Nilai Akhir = Nilai Murni × 1</a:t>
                      </a:r>
                      <a:endParaRPr lang="en-US" sz="1100"/>
                    </a:p>
                  </a:txBody>
                  <a:tcPr marL="190500" marR="190500" marT="190500" marB="190500" anchor="ctr">
                    <a:lnL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832154">
                <a:tc>
                  <a:txBody>
                    <a:bodyPr/>
                    <a:lstStyle/>
                    <a:p>
                      <a:pPr algn="ctr">
                        <a:lnSpc>
                          <a:spcPts val="2240"/>
                        </a:lnSpc>
                        <a:defRPr/>
                      </a:pPr>
                      <a:r>
                        <a:rPr lang="en-US" sz="1600">
                          <a:solidFill>
                            <a:srgbClr val="000000"/>
                          </a:solidFill>
                          <a:latin typeface="Poppins"/>
                          <a:ea typeface="Poppins"/>
                          <a:cs typeface="Poppins"/>
                          <a:sym typeface="Poppins"/>
                        </a:rPr>
                        <a:t>Deep Learning</a:t>
                      </a:r>
                      <a:endParaRPr lang="en-US" sz="1100"/>
                    </a:p>
                  </a:txBody>
                  <a:tcPr marL="190500" marR="190500" marT="190500" marB="190500" anchor="ctr">
                    <a:lnL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240"/>
                        </a:lnSpc>
                        <a:defRPr/>
                      </a:pPr>
                      <a:r>
                        <a:rPr lang="en-US" sz="1600">
                          <a:solidFill>
                            <a:srgbClr val="000000"/>
                          </a:solidFill>
                          <a:latin typeface="Poppins"/>
                          <a:ea typeface="Poppins"/>
                          <a:cs typeface="Poppins"/>
                          <a:sym typeface="Poppins"/>
                        </a:rPr>
                        <a:t>Nilai Akhir= Nilai Murni × 1.15</a:t>
                      </a:r>
                      <a:endParaRPr lang="en-US" sz="1100"/>
                    </a:p>
                  </a:txBody>
                  <a:tcPr marL="190500" marR="190500" marT="190500" marB="190500" anchor="ctr">
                    <a:lnL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38" name="Freeform 38"/>
          <p:cNvSpPr/>
          <p:nvPr/>
        </p:nvSpPr>
        <p:spPr>
          <a:xfrm>
            <a:off x="10609954" y="2948289"/>
            <a:ext cx="1288576" cy="1220926"/>
          </a:xfrm>
          <a:custGeom>
            <a:avLst/>
            <a:gdLst/>
            <a:ahLst/>
            <a:cxnLst/>
            <a:rect l="l" t="t" r="r" b="b"/>
            <a:pathLst>
              <a:path w="1288576" h="1220926">
                <a:moveTo>
                  <a:pt x="0" y="0"/>
                </a:moveTo>
                <a:lnTo>
                  <a:pt x="1288576" y="0"/>
                </a:lnTo>
                <a:lnTo>
                  <a:pt x="1288576" y="1220926"/>
                </a:lnTo>
                <a:lnTo>
                  <a:pt x="0" y="1220926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a:blipFill>
        </p:spPr>
      </p:sp>
      <p:sp>
        <p:nvSpPr>
          <p:cNvPr id="39" name="TextBox 39"/>
          <p:cNvSpPr txBox="1"/>
          <p:nvPr/>
        </p:nvSpPr>
        <p:spPr>
          <a:xfrm>
            <a:off x="17499918" y="9638067"/>
            <a:ext cx="547464" cy="24059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960"/>
              </a:lnSpc>
              <a:spcBef>
                <a:spcPct val="0"/>
              </a:spcBef>
            </a:pPr>
            <a:r>
              <a:rPr lang="en-US" sz="1400" b="1">
                <a:solidFill>
                  <a:srgbClr val="FFFFFF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03</a:t>
            </a:r>
          </a:p>
        </p:txBody>
      </p:sp>
      <p:sp>
        <p:nvSpPr>
          <p:cNvPr id="40" name="TextBox 40"/>
          <p:cNvSpPr txBox="1"/>
          <p:nvPr/>
        </p:nvSpPr>
        <p:spPr>
          <a:xfrm>
            <a:off x="1039108" y="441474"/>
            <a:ext cx="2325602" cy="19816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680"/>
              </a:lnSpc>
              <a:spcBef>
                <a:spcPct val="0"/>
              </a:spcBef>
            </a:pPr>
            <a:r>
              <a:rPr lang="en-US" sz="1200">
                <a:solidFill>
                  <a:srgbClr val="1F2020"/>
                </a:solidFill>
                <a:latin typeface="Open Sans"/>
                <a:ea typeface="Open Sans"/>
                <a:cs typeface="Open Sans"/>
                <a:sym typeface="Open Sans"/>
              </a:rPr>
              <a:t>INSTITUT TEKNOLOGI GARUT</a:t>
            </a:r>
          </a:p>
        </p:txBody>
      </p:sp>
      <p:sp>
        <p:nvSpPr>
          <p:cNvPr id="41" name="TextBox 41"/>
          <p:cNvSpPr txBox="1"/>
          <p:nvPr/>
        </p:nvSpPr>
        <p:spPr>
          <a:xfrm>
            <a:off x="15940842" y="441474"/>
            <a:ext cx="978460" cy="19797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680"/>
              </a:lnSpc>
              <a:spcBef>
                <a:spcPct val="0"/>
              </a:spcBef>
            </a:pPr>
            <a:r>
              <a:rPr lang="en-US" sz="1200">
                <a:solidFill>
                  <a:srgbClr val="1F2020"/>
                </a:solidFill>
                <a:latin typeface="Open Sans"/>
                <a:ea typeface="Open Sans"/>
                <a:cs typeface="Open Sans"/>
                <a:sym typeface="Open Sans"/>
              </a:rPr>
              <a:t>Contact</a:t>
            </a:r>
          </a:p>
        </p:txBody>
      </p:sp>
      <p:sp>
        <p:nvSpPr>
          <p:cNvPr id="42" name="TextBox 42"/>
          <p:cNvSpPr txBox="1"/>
          <p:nvPr/>
        </p:nvSpPr>
        <p:spPr>
          <a:xfrm>
            <a:off x="14385046" y="441474"/>
            <a:ext cx="1060497" cy="19797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680"/>
              </a:lnSpc>
              <a:spcBef>
                <a:spcPct val="0"/>
              </a:spcBef>
            </a:pPr>
            <a:r>
              <a:rPr lang="en-US" sz="1200">
                <a:solidFill>
                  <a:srgbClr val="1F2020"/>
                </a:solidFill>
                <a:latin typeface="Open Sans"/>
                <a:ea typeface="Open Sans"/>
                <a:cs typeface="Open Sans"/>
                <a:sym typeface="Open Sans"/>
              </a:rPr>
              <a:t>About Us</a:t>
            </a:r>
          </a:p>
        </p:txBody>
      </p:sp>
      <p:sp>
        <p:nvSpPr>
          <p:cNvPr id="43" name="TextBox 43"/>
          <p:cNvSpPr txBox="1"/>
          <p:nvPr/>
        </p:nvSpPr>
        <p:spPr>
          <a:xfrm>
            <a:off x="13154289" y="441474"/>
            <a:ext cx="735456" cy="19797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680"/>
              </a:lnSpc>
              <a:spcBef>
                <a:spcPct val="0"/>
              </a:spcBef>
            </a:pPr>
            <a:r>
              <a:rPr lang="en-US" sz="1200">
                <a:solidFill>
                  <a:srgbClr val="1F2020"/>
                </a:solidFill>
                <a:latin typeface="Open Sans"/>
                <a:ea typeface="Open Sans"/>
                <a:cs typeface="Open Sans"/>
                <a:sym typeface="Open Sans"/>
              </a:rPr>
              <a:t>Service</a:t>
            </a:r>
          </a:p>
        </p:txBody>
      </p:sp>
      <p:sp>
        <p:nvSpPr>
          <p:cNvPr id="44" name="TextBox 44"/>
          <p:cNvSpPr txBox="1"/>
          <p:nvPr/>
        </p:nvSpPr>
        <p:spPr>
          <a:xfrm>
            <a:off x="11898530" y="441474"/>
            <a:ext cx="809760" cy="19797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680"/>
              </a:lnSpc>
              <a:spcBef>
                <a:spcPct val="0"/>
              </a:spcBef>
            </a:pPr>
            <a:r>
              <a:rPr lang="en-US" sz="1200">
                <a:solidFill>
                  <a:srgbClr val="1F2020"/>
                </a:solidFill>
                <a:latin typeface="Open Sans"/>
                <a:ea typeface="Open Sans"/>
                <a:cs typeface="Open Sans"/>
                <a:sym typeface="Open Sans"/>
              </a:rPr>
              <a:t>Home</a:t>
            </a:r>
          </a:p>
        </p:txBody>
      </p:sp>
      <p:sp>
        <p:nvSpPr>
          <p:cNvPr id="45" name="TextBox 45"/>
          <p:cNvSpPr txBox="1"/>
          <p:nvPr/>
        </p:nvSpPr>
        <p:spPr>
          <a:xfrm>
            <a:off x="1028700" y="1106605"/>
            <a:ext cx="16230600" cy="87757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6709"/>
              </a:lnSpc>
            </a:pPr>
            <a:r>
              <a:rPr lang="en-US" sz="6099" b="1">
                <a:solidFill>
                  <a:srgbClr val="02CDFF"/>
                </a:solidFill>
                <a:latin typeface="Barlow Condensed Bold"/>
                <a:ea typeface="Barlow Condensed Bold"/>
                <a:cs typeface="Barlow Condensed Bold"/>
                <a:sym typeface="Barlow Condensed Bold"/>
              </a:rPr>
              <a:t>Ketentuan Penilaian &amp; Bobot Akhir</a:t>
            </a:r>
          </a:p>
        </p:txBody>
      </p:sp>
      <p:sp>
        <p:nvSpPr>
          <p:cNvPr id="46" name="TextBox 46"/>
          <p:cNvSpPr txBox="1"/>
          <p:nvPr/>
        </p:nvSpPr>
        <p:spPr>
          <a:xfrm>
            <a:off x="1039108" y="1898449"/>
            <a:ext cx="12941475" cy="50990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919"/>
              </a:lnSpc>
              <a:spcBef>
                <a:spcPct val="0"/>
              </a:spcBef>
            </a:pPr>
            <a:r>
              <a:rPr lang="en-US" sz="2799">
                <a:solidFill>
                  <a:srgbClr val="1F2020"/>
                </a:solidFill>
                <a:latin typeface="Poppins"/>
                <a:ea typeface="Poppins"/>
                <a:cs typeface="Poppins"/>
                <a:sym typeface="Poppins"/>
              </a:rPr>
              <a:t>Proses penilaian tugas besar akan dibagi menjadi dua tahapan utama:</a:t>
            </a:r>
          </a:p>
        </p:txBody>
      </p:sp>
      <p:sp>
        <p:nvSpPr>
          <p:cNvPr id="47" name="TextBox 47"/>
          <p:cNvSpPr txBox="1"/>
          <p:nvPr/>
        </p:nvSpPr>
        <p:spPr>
          <a:xfrm>
            <a:off x="2206353" y="2867416"/>
            <a:ext cx="5461781" cy="50990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919"/>
              </a:lnSpc>
              <a:spcBef>
                <a:spcPct val="0"/>
              </a:spcBef>
            </a:pPr>
            <a:r>
              <a:rPr lang="en-US" sz="2799" b="1">
                <a:solidFill>
                  <a:srgbClr val="0E9445"/>
                </a:solidFill>
                <a:latin typeface="Poppins Bold"/>
                <a:ea typeface="Poppins Bold"/>
                <a:cs typeface="Poppins Bold"/>
                <a:sym typeface="Poppins Bold"/>
              </a:rPr>
              <a:t>Tahap 1:</a:t>
            </a:r>
            <a:r>
              <a:rPr lang="en-US" sz="2799">
                <a:solidFill>
                  <a:srgbClr val="0E9445"/>
                </a:solidFill>
                <a:latin typeface="Poppins"/>
                <a:ea typeface="Poppins"/>
                <a:cs typeface="Poppins"/>
                <a:sym typeface="Poppins"/>
              </a:rPr>
              <a:t> </a:t>
            </a:r>
            <a:r>
              <a:rPr lang="en-US" sz="2799" b="1">
                <a:solidFill>
                  <a:srgbClr val="1F2020"/>
                </a:solidFill>
                <a:latin typeface="Poppins Bold"/>
                <a:ea typeface="Poppins Bold"/>
                <a:cs typeface="Poppins Bold"/>
                <a:sym typeface="Poppins Bold"/>
              </a:rPr>
              <a:t>Presentasi Proposal</a:t>
            </a:r>
            <a:r>
              <a:rPr lang="en-US" sz="2799">
                <a:solidFill>
                  <a:srgbClr val="1F2020"/>
                </a:solidFill>
                <a:latin typeface="Poppins"/>
                <a:ea typeface="Poppins"/>
                <a:cs typeface="Poppins"/>
                <a:sym typeface="Poppins"/>
              </a:rPr>
              <a:t> </a:t>
            </a:r>
          </a:p>
        </p:txBody>
      </p:sp>
      <p:sp>
        <p:nvSpPr>
          <p:cNvPr id="48" name="TextBox 48"/>
          <p:cNvSpPr txBox="1"/>
          <p:nvPr/>
        </p:nvSpPr>
        <p:spPr>
          <a:xfrm>
            <a:off x="2378468" y="3464326"/>
            <a:ext cx="5103840" cy="98996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659"/>
              </a:lnSpc>
              <a:spcBef>
                <a:spcPct val="0"/>
              </a:spcBef>
            </a:pPr>
            <a:r>
              <a:rPr lang="en-US" sz="1899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Dinilai dari kemampuan merumuskan masalah dan merancang solusi sebelum pemrograman dilakukan.</a:t>
            </a:r>
          </a:p>
        </p:txBody>
      </p:sp>
      <p:sp>
        <p:nvSpPr>
          <p:cNvPr id="49" name="TextBox 49"/>
          <p:cNvSpPr txBox="1"/>
          <p:nvPr/>
        </p:nvSpPr>
        <p:spPr>
          <a:xfrm>
            <a:off x="2591766" y="4595117"/>
            <a:ext cx="2837699" cy="32321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659"/>
              </a:lnSpc>
              <a:spcBef>
                <a:spcPct val="0"/>
              </a:spcBef>
            </a:pPr>
            <a:r>
              <a:rPr lang="en-US" sz="1899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Kejelasan latar belakang</a:t>
            </a:r>
          </a:p>
        </p:txBody>
      </p:sp>
      <p:sp>
        <p:nvSpPr>
          <p:cNvPr id="50" name="TextBox 50"/>
          <p:cNvSpPr txBox="1"/>
          <p:nvPr/>
        </p:nvSpPr>
        <p:spPr>
          <a:xfrm>
            <a:off x="2591766" y="5032632"/>
            <a:ext cx="2837699" cy="32321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659"/>
              </a:lnSpc>
              <a:spcBef>
                <a:spcPct val="0"/>
              </a:spcBef>
            </a:pPr>
            <a:r>
              <a:rPr lang="en-US" sz="1899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Pemilihan Dataset</a:t>
            </a:r>
          </a:p>
        </p:txBody>
      </p:sp>
      <p:sp>
        <p:nvSpPr>
          <p:cNvPr id="51" name="TextBox 51"/>
          <p:cNvSpPr txBox="1"/>
          <p:nvPr/>
        </p:nvSpPr>
        <p:spPr>
          <a:xfrm>
            <a:off x="6310745" y="4595117"/>
            <a:ext cx="2435046" cy="32321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659"/>
              </a:lnSpc>
              <a:spcBef>
                <a:spcPct val="0"/>
              </a:spcBef>
            </a:pPr>
            <a:r>
              <a:rPr lang="en-US" sz="1899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Manfaat Model</a:t>
            </a:r>
          </a:p>
        </p:txBody>
      </p:sp>
      <p:sp>
        <p:nvSpPr>
          <p:cNvPr id="52" name="TextBox 52"/>
          <p:cNvSpPr txBox="1"/>
          <p:nvPr/>
        </p:nvSpPr>
        <p:spPr>
          <a:xfrm>
            <a:off x="6296767" y="5032632"/>
            <a:ext cx="2851677" cy="32321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659"/>
              </a:lnSpc>
              <a:spcBef>
                <a:spcPct val="0"/>
              </a:spcBef>
            </a:pPr>
            <a:r>
              <a:rPr lang="en-US" sz="1899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Kelancaran Presentasi</a:t>
            </a:r>
          </a:p>
        </p:txBody>
      </p:sp>
      <p:sp>
        <p:nvSpPr>
          <p:cNvPr id="53" name="TextBox 53"/>
          <p:cNvSpPr txBox="1"/>
          <p:nvPr/>
        </p:nvSpPr>
        <p:spPr>
          <a:xfrm>
            <a:off x="2206353" y="6564665"/>
            <a:ext cx="5103840" cy="100520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919"/>
              </a:lnSpc>
            </a:pPr>
            <a:r>
              <a:rPr lang="en-US" sz="2799" b="1">
                <a:solidFill>
                  <a:srgbClr val="FF900C"/>
                </a:solidFill>
                <a:latin typeface="Poppins Bold"/>
                <a:ea typeface="Poppins Bold"/>
                <a:cs typeface="Poppins Bold"/>
                <a:sym typeface="Poppins Bold"/>
              </a:rPr>
              <a:t>Tahap 2:</a:t>
            </a:r>
            <a:r>
              <a:rPr lang="en-US" sz="2799" b="1">
                <a:solidFill>
                  <a:srgbClr val="FFDE59"/>
                </a:solidFill>
                <a:latin typeface="Poppins Bold"/>
                <a:ea typeface="Poppins Bold"/>
                <a:cs typeface="Poppins Bold"/>
                <a:sym typeface="Poppins Bold"/>
              </a:rPr>
              <a:t> </a:t>
            </a:r>
            <a:r>
              <a:rPr lang="en-US" sz="2799" b="1">
                <a:solidFill>
                  <a:srgbClr val="000000"/>
                </a:solidFill>
                <a:latin typeface="Poppins Bold"/>
                <a:ea typeface="Poppins Bold"/>
                <a:cs typeface="Poppins Bold"/>
                <a:sym typeface="Poppins Bold"/>
              </a:rPr>
              <a:t>Hasil Proyek Akhir</a:t>
            </a:r>
          </a:p>
          <a:p>
            <a:pPr algn="l">
              <a:lnSpc>
                <a:spcPts val="3919"/>
              </a:lnSpc>
              <a:spcBef>
                <a:spcPct val="0"/>
              </a:spcBef>
            </a:pPr>
            <a:endParaRPr lang="en-US" sz="2799" b="1">
              <a:solidFill>
                <a:srgbClr val="000000"/>
              </a:solidFill>
              <a:latin typeface="Poppins Bold"/>
              <a:ea typeface="Poppins Bold"/>
              <a:cs typeface="Poppins Bold"/>
              <a:sym typeface="Poppins Bold"/>
            </a:endParaRPr>
          </a:p>
        </p:txBody>
      </p:sp>
      <p:sp>
        <p:nvSpPr>
          <p:cNvPr id="54" name="TextBox 54"/>
          <p:cNvSpPr txBox="1"/>
          <p:nvPr/>
        </p:nvSpPr>
        <p:spPr>
          <a:xfrm>
            <a:off x="2378468" y="7188102"/>
            <a:ext cx="5103840" cy="98996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659"/>
              </a:lnSpc>
              <a:spcBef>
                <a:spcPct val="0"/>
              </a:spcBef>
            </a:pPr>
            <a:r>
              <a:rPr lang="en-US" sz="1899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Dinilai dari implementasi teknis (kode), ketepatan model, fungsionalitas UI, dan penyampaian hasil akhir.</a:t>
            </a:r>
          </a:p>
        </p:txBody>
      </p:sp>
      <p:sp>
        <p:nvSpPr>
          <p:cNvPr id="55" name="TextBox 55"/>
          <p:cNvSpPr txBox="1"/>
          <p:nvPr/>
        </p:nvSpPr>
        <p:spPr>
          <a:xfrm>
            <a:off x="2591766" y="8292367"/>
            <a:ext cx="2837699" cy="32321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659"/>
              </a:lnSpc>
              <a:spcBef>
                <a:spcPct val="0"/>
              </a:spcBef>
            </a:pPr>
            <a:r>
              <a:rPr lang="en-US" sz="1899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Kelengkapan Tahapan</a:t>
            </a:r>
          </a:p>
        </p:txBody>
      </p:sp>
      <p:sp>
        <p:nvSpPr>
          <p:cNvPr id="56" name="TextBox 56"/>
          <p:cNvSpPr txBox="1"/>
          <p:nvPr/>
        </p:nvSpPr>
        <p:spPr>
          <a:xfrm>
            <a:off x="2591766" y="8729882"/>
            <a:ext cx="2837699" cy="65659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659"/>
              </a:lnSpc>
              <a:spcBef>
                <a:spcPct val="0"/>
              </a:spcBef>
            </a:pPr>
            <a:r>
              <a:rPr lang="en-US" sz="1899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Eksplorasi &amp; Preprocessing (EDA)</a:t>
            </a:r>
          </a:p>
        </p:txBody>
      </p:sp>
      <p:sp>
        <p:nvSpPr>
          <p:cNvPr id="57" name="TextBox 57"/>
          <p:cNvSpPr txBox="1"/>
          <p:nvPr/>
        </p:nvSpPr>
        <p:spPr>
          <a:xfrm>
            <a:off x="6310745" y="8292367"/>
            <a:ext cx="3053458" cy="65659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659"/>
              </a:lnSpc>
              <a:spcBef>
                <a:spcPct val="0"/>
              </a:spcBef>
            </a:pPr>
            <a:r>
              <a:rPr lang="en-US" sz="1899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Pemodelan &amp; Hasil Metrik Evaluasi</a:t>
            </a:r>
          </a:p>
        </p:txBody>
      </p:sp>
      <p:sp>
        <p:nvSpPr>
          <p:cNvPr id="58" name="TextBox 58"/>
          <p:cNvSpPr txBox="1"/>
          <p:nvPr/>
        </p:nvSpPr>
        <p:spPr>
          <a:xfrm>
            <a:off x="6296767" y="8901967"/>
            <a:ext cx="2851677" cy="65659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659"/>
              </a:lnSpc>
              <a:spcBef>
                <a:spcPct val="0"/>
              </a:spcBef>
            </a:pPr>
            <a:r>
              <a:rPr lang="en-US" sz="1899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Integrasi ke Prototype UI (Berfungsi)</a:t>
            </a:r>
          </a:p>
        </p:txBody>
      </p:sp>
      <p:sp>
        <p:nvSpPr>
          <p:cNvPr id="59" name="TextBox 59"/>
          <p:cNvSpPr txBox="1"/>
          <p:nvPr/>
        </p:nvSpPr>
        <p:spPr>
          <a:xfrm>
            <a:off x="12038137" y="2916360"/>
            <a:ext cx="5461781" cy="100520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919"/>
              </a:lnSpc>
              <a:spcBef>
                <a:spcPct val="0"/>
              </a:spcBef>
            </a:pPr>
            <a:r>
              <a:rPr lang="en-US" sz="2799" b="1">
                <a:solidFill>
                  <a:srgbClr val="1178BE"/>
                </a:solidFill>
                <a:latin typeface="Poppins Bold"/>
                <a:ea typeface="Poppins Bold"/>
                <a:cs typeface="Poppins Bold"/>
                <a:sym typeface="Poppins Bold"/>
              </a:rPr>
              <a:t>Rasio Khusus Penilaian (Pengali Nilai)</a:t>
            </a:r>
          </a:p>
        </p:txBody>
      </p:sp>
      <p:sp>
        <p:nvSpPr>
          <p:cNvPr id="60" name="TextBox 60"/>
          <p:cNvSpPr txBox="1"/>
          <p:nvPr/>
        </p:nvSpPr>
        <p:spPr>
          <a:xfrm>
            <a:off x="10435855" y="4302565"/>
            <a:ext cx="7064063" cy="132334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659"/>
              </a:lnSpc>
              <a:spcBef>
                <a:spcPct val="0"/>
              </a:spcBef>
            </a:pPr>
            <a:r>
              <a:rPr lang="en-US" sz="1899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Sebagai bentuk apresiasi atas tingkat kesulitan teknis, kompleksitas arsitektur, dan beban komputasi, terdapat perbedaan rasio perhitungan untuk Nilai Total berdasarkan jenis algoritma yang dipilih: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7</TotalTime>
  <Words>734</Words>
  <Application>Microsoft Office PowerPoint</Application>
  <PresentationFormat>Custom</PresentationFormat>
  <Paragraphs>134</Paragraphs>
  <Slides>7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8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6" baseType="lpstr">
      <vt:lpstr>Poppins Bold</vt:lpstr>
      <vt:lpstr>Calibri</vt:lpstr>
      <vt:lpstr>Open Sans</vt:lpstr>
      <vt:lpstr>Barlow Condensed Bold</vt:lpstr>
      <vt:lpstr>Canva Sans</vt:lpstr>
      <vt:lpstr>Open Sans Bold</vt:lpstr>
      <vt:lpstr>Poppins</vt:lpstr>
      <vt:lpstr>Arial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Blue Modern Artificial Intelligence Presentation</dc:title>
  <cp:lastModifiedBy>asus juara</cp:lastModifiedBy>
  <cp:revision>2</cp:revision>
  <dcterms:created xsi:type="dcterms:W3CDTF">2006-08-16T00:00:00Z</dcterms:created>
  <dcterms:modified xsi:type="dcterms:W3CDTF">2026-06-12T09:36:55Z</dcterms:modified>
  <dc:identifier>DAHCb3rP-jA</dc:identifier>
</cp:coreProperties>
</file>